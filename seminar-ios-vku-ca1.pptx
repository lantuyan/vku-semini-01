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72" r:id="rId6"/>
    <p:sldId id="261" r:id="rId7"/>
    <p:sldId id="288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4" r:id="rId29"/>
    <p:sldId id="289" r:id="rId30"/>
    <p:sldId id="283" r:id="rId31"/>
    <p:sldId id="287" r:id="rId32"/>
    <p:sldId id="285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416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08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67271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1158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C8D5F-1EE0-F070-3D1D-5CB79F23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DBADBD-AA51-F331-36C1-C2D881C49F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591D5E-F7AF-0F42-3ADE-62FCC09BA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239FD-28E8-523E-121A-5AFE13B6A4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2281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73814-034A-7DE0-DCD1-67FA45222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64B37-8850-394D-1787-3A0A4D5987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3395A3-7FE0-A78C-70C8-6AED350C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4C96B-BB43-6FE8-AC82-BCA182029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3437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4" name="Image 0" descr="/Users/quelannguyen/workspace/vku-seminar/new/assets/devices-des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35240" y="502920"/>
            <a:ext cx="379476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4983480"/>
            <a:ext cx="3794760" cy="411480"/>
          </a:xfrm>
          <a:prstGeom prst="rect">
            <a:avLst/>
          </a:prstGeom>
          <a:solidFill>
            <a:srgbClr val="1B3A1F">
              <a:alpha val="88000"/>
            </a:srgbClr>
          </a:solidFill>
          <a:ln w="12700">
            <a:solidFill>
              <a:srgbClr val="1B3A1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35240" y="502919"/>
            <a:ext cx="3794760" cy="4892039"/>
          </a:xfrm>
          <a:prstGeom prst="rect">
            <a:avLst/>
          </a:prstGeom>
          <a:solidFill>
            <a:srgbClr val="1B3A1F">
              <a:alpha val="45000"/>
            </a:srgbClr>
          </a:solidFill>
          <a:ln w="1016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VN" dirty="0"/>
          </a:p>
        </p:txBody>
      </p:sp>
      <p:sp>
        <p:nvSpPr>
          <p:cNvPr id="8" name="Text 5"/>
          <p:cNvSpPr/>
          <p:nvPr/>
        </p:nvSpPr>
        <p:spPr>
          <a:xfrm>
            <a:off x="731520" y="1051560"/>
            <a:ext cx="6720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Phát triển iOS</a:t>
            </a:r>
            <a:endParaRPr lang="en-US" sz="5600" dirty="0"/>
          </a:p>
        </p:txBody>
      </p:sp>
      <p:sp>
        <p:nvSpPr>
          <p:cNvPr id="9" name="Text 6"/>
          <p:cNvSpPr/>
          <p:nvPr/>
        </p:nvSpPr>
        <p:spPr>
          <a:xfrm>
            <a:off x="731520" y="2057400"/>
            <a:ext cx="6720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Góc nhìn OUTSOURCE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731520" y="3730752"/>
            <a:ext cx="6583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thuật · công cụ · thực trạng outsource Mobile tại Đà Nẵng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7909560" y="47548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82712" y="4855464"/>
            <a:ext cx="72237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87968" y="47548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61120" y="4855464"/>
            <a:ext cx="72237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9921240" y="47548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957816" y="4808337"/>
            <a:ext cx="7955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31520" y="5120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— Technical Leader, VNGalaxy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talent: iOS ít người học hơn mức nhu cầu tuyển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34440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Nếu Android cần 10 người...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309360" y="1234440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...nhưng sinh viên học iOS lại rất ít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53492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74520"/>
            <a:ext cx="4709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Nhu cầu tuyển dụng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24231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Android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377440" y="2350008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3154680" y="2441448"/>
            <a:ext cx="1920240" cy="219456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54680" y="2441448"/>
            <a:ext cx="1920240" cy="21945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2404872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22,6%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31363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377440" y="3063240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3154680" y="3154680"/>
            <a:ext cx="1920240" cy="219456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54680" y="3154680"/>
            <a:ext cx="1344168" cy="219456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118104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16,4%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8680" y="3730752"/>
            <a:ext cx="4617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Quy đổi từ mục tiêu tuyển dụng 2024: Android 22,6%, iOS 16,4%. Nếu Android = 10 thì iOS ≈ 7.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6217920" y="1691640"/>
            <a:ext cx="534924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187452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Pipeline sinh viên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537960" y="24231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Android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046720" y="2350008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2700" dirty="0"/>
          </a:p>
        </p:txBody>
      </p:sp>
      <p:sp>
        <p:nvSpPr>
          <p:cNvPr id="25" name="Shape 23"/>
          <p:cNvSpPr/>
          <p:nvPr/>
        </p:nvSpPr>
        <p:spPr>
          <a:xfrm>
            <a:off x="8823960" y="2441448"/>
            <a:ext cx="1920240" cy="219456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23960" y="2441448"/>
            <a:ext cx="1920240" cy="21945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136392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046720" y="3063240"/>
            <a:ext cx="594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700" dirty="0"/>
          </a:p>
        </p:txBody>
      </p:sp>
      <p:sp>
        <p:nvSpPr>
          <p:cNvPr id="29" name="Shape 27"/>
          <p:cNvSpPr/>
          <p:nvPr/>
        </p:nvSpPr>
        <p:spPr>
          <a:xfrm>
            <a:off x="8823960" y="3154680"/>
            <a:ext cx="1920240" cy="219456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23960" y="3154680"/>
            <a:ext cx="192024" cy="219456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3730752"/>
            <a:ext cx="4617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Minh họa từ quan sát lớp học/khảo sát nhanh: nhiều bạn chọn Android trước; iOS bị rào cản MacBook, iPhone, App Store.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48640" y="4754880"/>
            <a:ext cx="11018520" cy="1097280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490118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Thông điệp chính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22960" y="5193792"/>
            <a:ext cx="10469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Cơ hội cho intern/fresher: iOS không ít nhu cầu; điểm nghẽn là quá ít sinh viên chọn học và có app iOS thật.</a:t>
            </a:r>
            <a:endParaRPr lang="en-US" sz="1750" dirty="0"/>
          </a:p>
        </p:txBody>
      </p:sp>
      <p:sp>
        <p:nvSpPr>
          <p:cNvPr id="35" name="Text 33"/>
          <p:cNvSpPr/>
          <p:nvPr/>
        </p:nvSpPr>
        <p:spPr>
          <a:xfrm>
            <a:off x="594360" y="608076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Nguồn tuyển dụng: TopDev Vietnam IT &amp; Tech Talent Landscape 2024-2025, tr.34. Tỷ lệ sinh viên là minh họa/proxy, nên xác nhận bằng khảo sát nhanh tại lớp.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Về diễn giả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Technical Leader — VNGalaxy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Chuyên môn: iOS, kiến trúc mobile, lead team kỹ thuật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Vai trò hôm nay: chia sẻ từ vị trí lead — chọn công nghệ, review code, tuyển dụng &amp; mentor</a:t>
            </a:r>
            <a:endParaRPr lang="en-US" sz="2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Liên hệ: sẽ chia sẻ ở slide cuối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Góc</a:t>
            </a: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3200" b="1" dirty="0" err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nhìn</a:t>
            </a: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OUTSOURCE, bạn sẽ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Hiểu dòng thời gian iOS: Obj-C → Swift, UIKit → SwiftUI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Biết cấu trúc một project Xcode chuẩn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Hình dung được một ngày của lập trình viên iOS outsource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Biết kỹ năng cần có để xin intern/fresher iOS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Biết outsource Mobile tại Đà Nẵng đang trông như thế nào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Timeline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/>
        </p:nvGraphicFramePr>
        <p:xfrm>
          <a:off x="457200" y="1280160"/>
          <a:ext cx="11247120" cy="40233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3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Thời gian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Phút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Nội dung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E7D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08:00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Mở đầu &amp; khảo sát phòng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08:05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Tổng quan lập trình iOS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08:20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Objective-C → Swift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08:35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UIKit vs SwiftUI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08:50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Công cụ + tour code mẫu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09:00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OUTSOURCE iOS tại Đà Nẵng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09:25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5'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A1A1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Q&amp;A &amp; chốt 3 điểm cần nhớ</a:t>
                      </a:r>
                      <a:endParaRPr lang="en-US" sz="16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973108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PHẦN 1 — KỸ THUẬT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Lập trình iOS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hôm nay trông như thế nào?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C9CF-1674-A7A5-925B-FDF20432E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B299D20-2689-7ED1-FE41-73D7997714A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0661B92-35AE-1753-877A-CBD4267C0F64}"/>
              </a:ext>
            </a:extLst>
          </p:cNvPr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E4058F-39E9-A179-EBA2-8C7BAA162FF2}"/>
              </a:ext>
            </a:extLst>
          </p:cNvPr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PHẦN 1 — KỸ THUẬT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292144F-165D-1D73-051C-4B099850B6BB}"/>
              </a:ext>
            </a:extLst>
          </p:cNvPr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Lập trình iOS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hôm nay trông như thế nào?</a:t>
            </a:r>
            <a:endParaRPr lang="en-US" sz="5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37687A-73AB-6C12-F77C-9D87E7AB263F}"/>
              </a:ext>
            </a:extLst>
          </p:cNvPr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673735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Hệ sinh thái Apple Platforms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Một ngôn ngữ và một toolchain đi qua nhiều thiết bị.</a:t>
            </a:r>
            <a:endParaRPr lang="en-US" sz="1350" dirty="0"/>
          </a:p>
        </p:txBody>
      </p:sp>
      <p:pic>
        <p:nvPicPr>
          <p:cNvPr id="7" name="Image 0" descr="/Users/quelannguyen/workspace/vku-seminar/new/assets/devices-desk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18120" y="1234440"/>
            <a:ext cx="3611880" cy="4251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18120" y="5074920"/>
            <a:ext cx="3611880" cy="411480"/>
          </a:xfrm>
          <a:prstGeom prst="rect">
            <a:avLst/>
          </a:prstGeom>
          <a:solidFill>
            <a:srgbClr val="1B3A1F">
              <a:alpha val="88000"/>
            </a:srgbClr>
          </a:solidFill>
          <a:ln w="12700">
            <a:solidFill>
              <a:srgbClr val="1B3A1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82712" y="5175504"/>
            <a:ext cx="32826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Ảnh minh họa: Héctor Martínez / Wikimedia Commons CC0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85800" y="1691640"/>
            <a:ext cx="6492240" cy="109728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1399032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9224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9224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084832" y="1399032"/>
            <a:ext cx="640080" cy="6400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084832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865376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iPadOS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865376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iPad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456432" y="1399032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56432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236976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watchOS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236976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Watch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73168" y="1399032"/>
            <a:ext cx="640080" cy="64008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73168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53712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macOS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53712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25312" y="1399032"/>
            <a:ext cx="640080" cy="6400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25312" y="1572768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705856" y="2176272"/>
            <a:ext cx="1078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visionOS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705856" y="2487168"/>
            <a:ext cx="10789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Spatial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731520" y="3154680"/>
            <a:ext cx="66751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VN" dirty="0"/>
          </a:p>
        </p:txBody>
      </p:sp>
      <p:sp>
        <p:nvSpPr>
          <p:cNvPr id="33" name="Text 30"/>
          <p:cNvSpPr/>
          <p:nvPr/>
        </p:nvSpPr>
        <p:spPr>
          <a:xfrm>
            <a:off x="960120" y="3246120"/>
            <a:ext cx="617220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6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iOS không chỉ là học một chiếc điện thoại.</a:t>
            </a:r>
            <a:endParaRPr lang="en-US" sz="1360" dirty="0"/>
          </a:p>
          <a:p>
            <a:pPr marL="0" indent="0">
              <a:buNone/>
            </a:pPr>
            <a:r>
              <a:rPr lang="en-US" sz="136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Khi nắm Swift + Xcode + SDK, bạn có thể chuyển sang iPad, Mac, Watch hoặc visionOS dễ hơn nhiều so với học lại từ đầu.</a:t>
            </a:r>
            <a:endParaRPr lang="en-US" sz="1360" dirty="0"/>
          </a:p>
          <a:p>
            <a:pPr marL="0" indent="0">
              <a:buNone/>
            </a:pPr>
            <a:r>
              <a:rPr lang="en-US" sz="136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Với outsource, đây là lợi thế khi client cần mở rộng nhiều nền tảng Apple.</a:t>
            </a:r>
            <a:endParaRPr lang="en-US" sz="1360" dirty="0"/>
          </a:p>
        </p:txBody>
      </p:sp>
      <p:sp>
        <p:nvSpPr>
          <p:cNvPr id="34" name="Text 31"/>
          <p:cNvSpPr/>
          <p:nvPr/>
        </p:nvSpPr>
        <p:spPr>
          <a:xfrm>
            <a:off x="594360" y="6199632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Nguồn ảnh: Wikimedia Commons; nội dung kỹ thuật: Apple Developer platform documentation.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Cấu trúc một app iOS hiện đại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Đọc project theo luồng: UI -&gt; State/Logic -&gt; Data -&gt; Platform.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6400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60020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1554480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 / UIKit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4760" y="1554480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Màn hình, component, navigation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41832" y="2377440"/>
            <a:ext cx="6144768" cy="658368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256032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Logic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993392" y="2514600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ViewModel / Use case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59352" y="2514600"/>
            <a:ext cx="2807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State, validation, async/await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106424" y="3337560"/>
            <a:ext cx="588873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35024" y="3520440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57984" y="3474720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REST/GraphQL + local DB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23944" y="3474720"/>
            <a:ext cx="26426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Codable, cache, Core Data/SwiftData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271016" y="4297680"/>
            <a:ext cx="5632704" cy="658368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99615" y="4480560"/>
            <a:ext cx="1038021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Platform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661080" y="4453128"/>
            <a:ext cx="1965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Apple SDK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88536" y="4434840"/>
            <a:ext cx="2478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Push, Maps, Health, AV, StoreKit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818120" y="1325880"/>
            <a:ext cx="3611880" cy="4160520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19872" y="1627632"/>
            <a:ext cx="2971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Ví dụ project outsource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138160" y="2148840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1312" y="2249424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Auth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555480" y="2148840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28632" y="2249424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138160" y="2807208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11312" y="2907792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Transfer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555480" y="2807208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28632" y="2907792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KYC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138160" y="3465576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2E7D3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1312" y="3566160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Notification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555480" y="3465576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3A1F"/>
          </a:solidFill>
          <a:ln w="13970">
            <a:solidFill>
              <a:srgbClr val="97BC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28632" y="3566160"/>
            <a:ext cx="108813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119872" y="4279392"/>
            <a:ext cx="29718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 err="1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Nếu</a:t>
            </a: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bug ở màn hình login, </a:t>
            </a:r>
            <a:r>
              <a:rPr lang="en-US" sz="1350" b="1" dirty="0" err="1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</a:t>
            </a: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sẽ bắt đầu đọc từ layer nào?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LỊCH SỬ NGÔN NGỮ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Từ Objective-C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đến Swift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Objective-C -&gt; Swift: đừng học như hai thế giới tách rời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là chính, Objective-C giúp đọc legacy và hiểu nền tảng Apple lâu đời.</a:t>
            </a:r>
            <a:endParaRPr lang="en-US" sz="1350" dirty="0"/>
          </a:p>
        </p:txBody>
      </p:sp>
      <p:pic>
        <p:nvPicPr>
          <p:cNvPr id="7" name="Image 0" descr="/Users/quelannguyen/workspace/vku-seminar/new/assets/swif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1024128"/>
            <a:ext cx="2148840" cy="6675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68680" y="2971800"/>
            <a:ext cx="9875520" cy="64008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4088" y="2807208"/>
            <a:ext cx="384048" cy="38404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1984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5544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Objective-C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144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 + Smalltalk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 syntax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172968" y="2807208"/>
            <a:ext cx="384048" cy="38404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92608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2008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62432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56032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iPhone SDK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production UI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41848" y="2807208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39496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2014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9320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02920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type-safe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modern syntax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2807208"/>
            <a:ext cx="384048" cy="384048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2019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56208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49808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declarative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state-driven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10579608" y="2807208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332720" y="213969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0030968" y="24323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6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9966960" y="3337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strict concurrency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safer async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914400" y="4754880"/>
            <a:ext cx="10561320" cy="749808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143000" y="5010912"/>
            <a:ext cx="10012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Viết</a:t>
            </a:r>
            <a:r>
              <a:rPr lang="en-US" sz="1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Swift tốt, nhưng phải đọc được Obj-C/bridging khi gặp codebase cũ.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94360" y="6199632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Logo Swift: Apple Inc via Wikimedia Commons, Apache 2.0. Mốc thời gian: Apple Developer / Swift project history.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FRAMEWORK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vs SwiftUI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hai paradigm, một hệ sinh thái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vs SwiftUI: khác nhau ở cách nghĩ, không chỉ cú pháp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Dùng ví dụ state để giải thích vì sao SwiftUI dễ bắt đầu hơn nhưng UIKit vẫn mạnh.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1417320"/>
            <a:ext cx="5230368" cy="43434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417320"/>
            <a:ext cx="5230368" cy="10972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749040" y="17830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Imperative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60120" y="2240280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Controller nói UI phải làm gì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05840" y="2852928"/>
            <a:ext cx="4572000" cy="1325880"/>
          </a:xfrm>
          <a:prstGeom prst="rect">
            <a:avLst/>
          </a:prstGeom>
          <a:solidFill>
            <a:srgbClr val="102018"/>
          </a:solidFill>
          <a:ln w="12700">
            <a:solidFill>
              <a:srgbClr val="1020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3090672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UIViewController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viewDidLoad()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button.addTarget(...)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tableView.reloadData()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452628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Production lâu đời, control sâu, nhiều code legacy.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0" y="1417320"/>
            <a:ext cx="5230368" cy="4343400"/>
          </a:xfrm>
          <a:prstGeom prst="rect">
            <a:avLst/>
          </a:prstGeom>
          <a:solidFill>
            <a:srgbClr val="FFFFFF"/>
          </a:solidFill>
          <a:ln w="15240">
            <a:solidFill>
              <a:srgbClr val="97BC6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417320"/>
            <a:ext cx="5230368" cy="10972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17373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464040" y="17830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Declarative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675120" y="2240280"/>
            <a:ext cx="4617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State đổi -&gt; View tự render lại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720840" y="2852928"/>
            <a:ext cx="4572000" cy="1325880"/>
          </a:xfrm>
          <a:prstGeom prst="rect">
            <a:avLst/>
          </a:prstGeom>
          <a:solidFill>
            <a:srgbClr val="102018"/>
          </a:solidFill>
          <a:ln w="12700">
            <a:solidFill>
              <a:srgbClr val="1020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31152" y="3090672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ContentView: View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@State var items = []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List(items) { ... }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93408" y="452628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Nhanh cho màn hình mới, preview tốt, gọn cho junior.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Chọn UIKit hay SwiftUI trong thực tế 2026?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Quyết định theo codebase, target iOS version và mức custom UI.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701918" y="1589234"/>
            <a:ext cx="36576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30518" y="1753826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Màn mới, target iOS mới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588118" y="1900130"/>
            <a:ext cx="731520" cy="4572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0766" y="1817834"/>
            <a:ext cx="164592" cy="201168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48238" y="1589234"/>
            <a:ext cx="2971800" cy="694944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49406" y="1772114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SwiftUI trước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701918" y="2640794"/>
            <a:ext cx="36576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30518" y="2805386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Codebase cũ / screen phức tạp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588118" y="2951690"/>
            <a:ext cx="73152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00766" y="2869394"/>
            <a:ext cx="164592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48238" y="2640794"/>
            <a:ext cx="2971800" cy="69494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49406" y="2823674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UIKit vẫn sống khỏe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701918" y="3692354"/>
            <a:ext cx="36576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30518" y="3856946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outsource enterprise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588118" y="4003250"/>
            <a:ext cx="731520" cy="457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0766" y="3920954"/>
            <a:ext cx="164592" cy="201168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48238" y="3692354"/>
            <a:ext cx="2971800" cy="694944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49406" y="3875234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là mặc định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038788" y="4972514"/>
            <a:ext cx="7098660" cy="1243584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VN" dirty="0"/>
          </a:p>
        </p:txBody>
      </p:sp>
      <p:sp>
        <p:nvSpPr>
          <p:cNvPr id="27" name="Text 25"/>
          <p:cNvSpPr/>
          <p:nvPr/>
        </p:nvSpPr>
        <p:spPr>
          <a:xfrm>
            <a:off x="2870807" y="5131071"/>
            <a:ext cx="5403058" cy="7289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cả hai.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Interview outsource hay hỏi: UIKit lifecycle, Auto Layout, SwiftUI state.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CÔNG CỤ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Xcode, SPM,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Instruments &amp; tour code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Bộ công cụ tối thiểu: Xcode là trung tâm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0392" y="4398264"/>
            <a:ext cx="52486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Screenshot Xcode: HtetPyae / Wikimedia Commons CC BY-SA 4.0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269480" y="1707801"/>
            <a:ext cx="1965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34072" y="1854105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434072" y="2119281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+ build + simulator</a:t>
            </a:r>
            <a:endParaRPr lang="en-US" sz="940" dirty="0"/>
          </a:p>
        </p:txBody>
      </p:sp>
      <p:sp>
        <p:nvSpPr>
          <p:cNvPr id="13" name="Shape 10"/>
          <p:cNvSpPr/>
          <p:nvPr/>
        </p:nvSpPr>
        <p:spPr>
          <a:xfrm>
            <a:off x="9555480" y="1707801"/>
            <a:ext cx="1965960" cy="749808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720072" y="1854105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SPM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720072" y="2119281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Quản lý package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7269480" y="2832513"/>
            <a:ext cx="1965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34072" y="2978817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Instruments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434072" y="3243993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Memory / CPU / energy</a:t>
            </a:r>
            <a:endParaRPr lang="en-US" sz="940" dirty="0"/>
          </a:p>
        </p:txBody>
      </p:sp>
      <p:sp>
        <p:nvSpPr>
          <p:cNvPr id="19" name="Shape 16"/>
          <p:cNvSpPr/>
          <p:nvPr/>
        </p:nvSpPr>
        <p:spPr>
          <a:xfrm>
            <a:off x="9555480" y="2832513"/>
            <a:ext cx="1965960" cy="749808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720072" y="2978817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TestFlight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9720072" y="3243993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Beta trước release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7269480" y="3957225"/>
            <a:ext cx="19659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34072" y="4103529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Xcode Cloud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434072" y="4368705"/>
            <a:ext cx="162763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4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 chính chủ</a:t>
            </a:r>
            <a:endParaRPr lang="en-US" sz="940" dirty="0"/>
          </a:p>
        </p:txBody>
      </p:sp>
      <p:sp>
        <p:nvSpPr>
          <p:cNvPr id="25" name="Shape 22"/>
          <p:cNvSpPr/>
          <p:nvPr/>
        </p:nvSpPr>
        <p:spPr>
          <a:xfrm>
            <a:off x="850392" y="5786025"/>
            <a:ext cx="10424160" cy="566928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06424" y="5996337"/>
            <a:ext cx="9966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8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iOS không chỉ viết Swift; còn phải build, test, đo performance và phát hành qua App Store ecosystem.</a:t>
            </a:r>
            <a:endParaRPr lang="en-US" sz="1380" dirty="0"/>
          </a:p>
        </p:txBody>
      </p:sp>
      <p:sp>
        <p:nvSpPr>
          <p:cNvPr id="27" name="Text 2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5F949F-4B6F-72FD-ED9D-4CFDF0F145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56573"/>
            <a:ext cx="6322788" cy="39331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Tour code mẫu: đọc project như đọc bản đồ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Không cần gõ live; chỉ cần chỉ đúng vai trò từng thư mục.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App/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1527048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43560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entry point, DI, app lifecycle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777240" y="20756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Features/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697480" y="2185416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209397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mỗi màn hình / flow là một module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777240" y="273405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Core/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697480" y="2843784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752344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networking, persistence, design system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777240" y="339242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Resources/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697480" y="3502152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0" y="3410712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asset catalog, localizable strings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777240" y="40507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97480" y="4160520"/>
            <a:ext cx="777240" cy="36576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40690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2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unit test, UI test, fixtures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543800" y="1325880"/>
            <a:ext cx="3749040" cy="3611880"/>
          </a:xfrm>
          <a:prstGeom prst="rect">
            <a:avLst/>
          </a:prstGeom>
          <a:solidFill>
            <a:srgbClr val="102018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18120" y="1691640"/>
            <a:ext cx="324612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ChecklistView: View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@State var items: [Item]</a:t>
            </a:r>
            <a:endParaRPr lang="en-US" sz="1220" dirty="0"/>
          </a:p>
          <a:p>
            <a:pPr marL="0" indent="0">
              <a:buNone/>
            </a:pP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body: some View {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List(items) { item in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Row(item)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.task { await viewModel.load()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7818120" y="443484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Điểm nhấn demo: View -&gt; ViewModel -&gt; Service -&gt; State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377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 err="1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Đi</a:t>
            </a: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5200" b="1" dirty="0" err="1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làm</a:t>
            </a: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OUTSROUCE,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làm cho khách quốc tế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 là gì?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Hãy giải thích bằng luồng trách nhiệm, không chỉ bằng định nghĩa.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920240"/>
            <a:ext cx="224028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22677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 / JP / EU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60520" y="1920240"/>
            <a:ext cx="224028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5112" y="22677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VN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PM · Dev · QA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98080" y="1920240"/>
            <a:ext cx="224028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62672" y="2267712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/ Feature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TestFlight -&gt; Store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154680" y="2487168"/>
            <a:ext cx="73152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58184" y="2395728"/>
            <a:ext cx="182880" cy="21945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87168"/>
            <a:ext cx="73152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95744" y="2395728"/>
            <a:ext cx="182880" cy="219456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069080"/>
            <a:ext cx="9829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trả tiền cho năng lực delivery: hiểu requirement, estimate, code, test, release, maintain.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572000"/>
            <a:ext cx="9281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Không sở hữu sản phẩm cuối, nhưng học được quy trình enterprise và làm việc với khách quốc tế.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 ≠ Product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Bán giờ công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Thu nhập tuyến tính (người × giờ)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Chắc chắn, ổn định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quy trình enterprise nhanh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Tiếp xúc client quốc tế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Bán sản phẩm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Thu nhập có thể scale phi tuyến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Rủi ro cao, upside lớn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toàn diện hơn (PM · marketing · ops)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Có 'chủ quyền' với app của mình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Đà Nẵng: outsource Mobile có đất diễn nếu bạn có iOS thật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Dùng bức tranh địa phương để sinh viên thấy cơ hội gần mình.</a:t>
            </a:r>
            <a:endParaRPr lang="en-US" sz="1350" dirty="0"/>
          </a:p>
        </p:txBody>
      </p:sp>
      <p:pic>
        <p:nvPicPr>
          <p:cNvPr id="7" name="Image 0" descr="/Users/quelannguyen/workspace/vku-seminar/new/assets/dragon-bridg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20840" y="1234440"/>
            <a:ext cx="461772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31520" y="1417320"/>
            <a:ext cx="5394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05840" y="1600200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560320" y="1627632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trung tâm CNTT lớn của Việt Nam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31520" y="2532888"/>
            <a:ext cx="5394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05840" y="2715768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JP · US · EU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560320" y="2743200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thị trường outsource phổ biến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731520" y="3648456"/>
            <a:ext cx="539496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05840" y="3831336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560320" y="3858768"/>
            <a:ext cx="3063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cung nhân lực mỏng hơn Android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68680" y="4681728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Nhu cầu tuyển Android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2926080" y="4718304"/>
            <a:ext cx="2103120" cy="182880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6080" y="4718304"/>
            <a:ext cx="2103120" cy="1828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166360" y="4672584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68680" y="507492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Nhu cầu tuyển iOS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926080" y="5111496"/>
            <a:ext cx="2103120" cy="182880"/>
          </a:xfrm>
          <a:prstGeom prst="rect">
            <a:avLst/>
          </a:prstGeom>
          <a:solidFill>
            <a:srgbClr val="DDE8D8"/>
          </a:solidFill>
          <a:ln w="12700">
            <a:solidFill>
              <a:srgbClr val="DDE8D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6080" y="5111496"/>
            <a:ext cx="1472184" cy="18288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166360" y="5065776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94360" y="6199632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Số liệu nhu cầu: quy đổi từ TopDev Vietnam IT &amp; Tech Talent Landscape 2024-2025, tr.34. Ảnh: Wikimedia Commons.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Một ngày của iOS dev outsource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Sinh viên cần hình dung công việc lặp lại theo nhịp sprint và client timezone.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14400" y="2834640"/>
            <a:ext cx="9966960" cy="73152"/>
          </a:xfrm>
          <a:prstGeom prst="rect">
            <a:avLst/>
          </a:prstGeom>
          <a:solidFill>
            <a:srgbClr val="CBDCC6"/>
          </a:solidFill>
          <a:ln w="12700">
            <a:solidFill>
              <a:srgbClr val="CBDCC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606040"/>
            <a:ext cx="530352" cy="53035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920240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08:30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" y="3429000"/>
            <a:ext cx="1417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37033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Pull code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Jira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Daily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172968" y="2606040"/>
            <a:ext cx="530352" cy="530352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17520" y="1920240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10:00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15768" y="3429000"/>
            <a:ext cx="1417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71216" y="37033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feature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Unit test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0136" y="2606040"/>
            <a:ext cx="530352" cy="53035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04688" y="1920240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14:00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202936" y="3429000"/>
            <a:ext cx="1417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58384" y="37033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 review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bug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47304" y="2606040"/>
            <a:ext cx="530352" cy="530352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91856" y="1920240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16:30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90104" y="3429000"/>
            <a:ext cx="1417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45552" y="37033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Demo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Retro / planning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634472" y="2606040"/>
            <a:ext cx="530352" cy="530352"/>
          </a:xfrm>
          <a:prstGeom prst="ellipse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79024" y="1920240"/>
            <a:ext cx="8412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21:00?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0177272" y="3429000"/>
            <a:ext cx="14173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5E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32720" y="37033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Sync US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khi cần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143000" y="5074920"/>
            <a:ext cx="9692640" cy="530352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417320" y="5285232"/>
            <a:ext cx="91440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năng mềm thật sự: đọc ticket rõ, hỏi sớm, update tiến độ và giao tiếp bằng tiếng Anh.</a:t>
            </a:r>
            <a:endParaRPr lang="en-US" sz="1380" dirty="0"/>
          </a:p>
        </p:txBody>
      </p:sp>
      <p:sp>
        <p:nvSpPr>
          <p:cNvPr id="30" name="Text 28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Quy trình một dự án outsource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này giúp sinh viên thấy ticket không tự nhiên xuất hiện trong Jira.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1874520"/>
            <a:ext cx="1417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29968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0392" y="230428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Pre-sales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proposal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estimate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2075688" y="2468880"/>
            <a:ext cx="32004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1720" y="2386584"/>
            <a:ext cx="109728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874520"/>
            <a:ext cx="1417320" cy="1234440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06040" y="2029968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24912" y="230428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Kick-off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7004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scope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size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3950208" y="2468880"/>
            <a:ext cx="32004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06240" y="2386584"/>
            <a:ext cx="109728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43400" y="1874520"/>
            <a:ext cx="1417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2029968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99432" y="230428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4456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 -&gt; code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review -&gt; retro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5824728" y="2468880"/>
            <a:ext cx="32004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80760" y="2386584"/>
            <a:ext cx="109728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1874520"/>
            <a:ext cx="1417320" cy="1234440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5080" y="2029968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73952" y="230428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UAT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1908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test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log bug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7699248" y="2468880"/>
            <a:ext cx="32004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55280" y="2386584"/>
            <a:ext cx="109728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1874520"/>
            <a:ext cx="14173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2029968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348472" y="230428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29360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TestFlight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Store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9573768" y="2468880"/>
            <a:ext cx="320040" cy="457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829800" y="2386584"/>
            <a:ext cx="109728" cy="20116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66960" y="1874520"/>
            <a:ext cx="1417320" cy="1234440"/>
          </a:xfrm>
          <a:prstGeom prst="rect">
            <a:avLst/>
          </a:prstGeom>
          <a:solidFill>
            <a:srgbClr val="EEF5EA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2029968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222992" y="230428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Maintain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016812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fix bug</a:t>
            </a:r>
            <a:endParaRPr lang="en-US" sz="980" dirty="0"/>
          </a:p>
          <a:p>
            <a:pPr marL="0" indent="0" algn="ctr">
              <a:buNone/>
            </a:pPr>
            <a:r>
              <a:rPr lang="en-US" sz="9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iOS update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960120" y="4434840"/>
            <a:ext cx="10195560" cy="777240"/>
          </a:xfrm>
          <a:prstGeom prst="rect">
            <a:avLst/>
          </a:prstGeom>
          <a:solidFill>
            <a:srgbClr val="1B3A1F"/>
          </a:solidFill>
          <a:ln w="12700">
            <a:solidFill>
              <a:srgbClr val="1B3A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34440" y="4718304"/>
            <a:ext cx="9646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Điểm cần nhấn mạnh: intern/fresher thường vào ở Sprint/bugfix, nhưng phải hiểu cả chuỗi để làm việc có trách nhiệm.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Vai trò trong team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Hierarchy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 / Fresher — task nhỏ, học từ senior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Junior (1–2y) — code feature có hướng dẫn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Senior (3–5y) — thiết kế module, review code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 Lead (5y+) — kiến trúc, làm việc trực tiếp client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Vai trò đặc thù VN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BrSE / Comtor (Nhật) — cầu nối ngôn ngữ-kỹ thuật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Solution Architect — design hệ thống pre-sales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QA Lead — kiểm thử, viết test plan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Scrum Master / PM — quản lý sprint, báo cáo client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Kỹ năng cần để xin intern/fresher iOS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987552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Gom kỹ năng thành bản đồ ưu tiên để sinh viên tự học không bị loạn.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051560" y="1691640"/>
            <a:ext cx="2331720" cy="11155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2002536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Swift + UI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231343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được màn đơn giản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160520" y="1691640"/>
            <a:ext cx="2331720" cy="11155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97BC6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2002536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REST + JSON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389120" y="231343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gọi API, parse, error state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7269480" y="1691640"/>
            <a:ext cx="2331720" cy="11155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0" y="2002536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 + Jira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0" y="231343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branch, PR, conflict, sprint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2606040" y="3886200"/>
            <a:ext cx="2331720" cy="11155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97BC6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4197096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English docs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834640" y="450799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đọc Apple docs mỗi ngày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715000" y="3886200"/>
            <a:ext cx="2331720" cy="11155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B5E2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4197096"/>
            <a:ext cx="1874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Self-learning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0" y="4507992"/>
            <a:ext cx="1874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8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WWDC đổi liên tục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914400" y="548640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Bài tập về nhà: đưa 1 app nhỏ lên GitHub, có README, ảnh màn hình, API/mock data và ít nhất 5 commit rõ nghĩa.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Outsource — Ưu &amp; Nhược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Ưu điểm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Dễ tìm việc đầu sự nghiệp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Tiếp xúc client quốc tế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Cải thiện tiếng Anh nhanh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Mức lương khởi điểm tốt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Học engineering chuyên nghiệp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17920" y="1280160"/>
            <a:ext cx="5577840" cy="49377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17320"/>
            <a:ext cx="5303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Nhược điểm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537960" y="1965960"/>
            <a:ext cx="51663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Ít 'chủ quyền' sản phẩm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Đôi khi làm mảng lặp lại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Ít cơ hội học design/PM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Phụ thuộc dòng dự án từ client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8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Career path đôi khi đóng khung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28800"/>
            <a:ext cx="103327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i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“Outsource là trường học engineering tốt nhất Việt Nam — đi 2–3 năm bạn sẽ trưởng thành rất nhanh.”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điểm </a:t>
            </a:r>
            <a:r>
              <a:rPr lang="en-US" sz="3200" b="1" dirty="0" err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cần</a:t>
            </a: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3200" b="1" dirty="0" err="1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nhớ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Swift + SwiftUI là tương lai — UIKit vẫn còn cần</a:t>
            </a:r>
            <a:endParaRPr lang="en-US" sz="2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Outsource = trường học engineering, không phải đích đến cuối</a:t>
            </a:r>
            <a:endParaRPr lang="en-US" sz="2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6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Tiếng Anh + Git + tự học = bộ ba bắt buộc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7B967B-62BD-E03A-B204-967D35C85771}"/>
              </a:ext>
            </a:extLst>
          </p:cNvPr>
          <p:cNvSpPr txBox="1"/>
          <p:nvPr/>
        </p:nvSpPr>
        <p:spPr>
          <a:xfrm>
            <a:off x="-829340" y="4572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655A-D65C-8C89-56A1-4BED67488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2B0744-5869-D2CA-3098-EB43958F29F3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F086803-D107-F690-9BA1-74C1A09A7C0C}"/>
              </a:ext>
            </a:extLst>
          </p:cNvPr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0EA4D4A-383D-AFFC-A9AE-4786984FC038}"/>
              </a:ext>
            </a:extLst>
          </p:cNvPr>
          <p:cNvSpPr/>
          <p:nvPr/>
        </p:nvSpPr>
        <p:spPr>
          <a:xfrm>
            <a:off x="444125" y="2731770"/>
            <a:ext cx="11430000" cy="1394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Q&amp;A</a:t>
            </a:r>
            <a:endParaRPr lang="en-US" sz="8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601580C-2414-F160-42D1-BCE517180CD0}"/>
              </a:ext>
            </a:extLst>
          </p:cNvPr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EC38C0A-778E-0001-2E16-E48721154B76}"/>
              </a:ext>
            </a:extLst>
          </p:cNvPr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7CE652-1D6E-30CC-4DC1-A3A675A26FF3}"/>
              </a:ext>
            </a:extLst>
          </p:cNvPr>
          <p:cNvSpPr txBox="1"/>
          <p:nvPr/>
        </p:nvSpPr>
        <p:spPr>
          <a:xfrm>
            <a:off x="2523460" y="429555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262537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B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5E2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Q&amp;A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371600" cy="5486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 nào đã thử apply intern iOS?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Khó khăn lớn nhất khi đi phỏng vấn là gì?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Bạn muốn hỏi gì về quy trình </a:t>
            </a:r>
            <a:r>
              <a:rPr lang="en-US" sz="2200" dirty="0" err="1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tuyển</a:t>
            </a: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 </a:t>
            </a:r>
            <a:r>
              <a:rPr lang="en-US" sz="2200" dirty="0" err="1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dụng</a:t>
            </a:r>
            <a:r>
              <a:rPr lang="en-US" sz="2200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, công nghệ?</a:t>
            </a:r>
            <a:endParaRPr lang="en-US" sz="2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2200" b="1" dirty="0">
                <a:solidFill>
                  <a:srgbClr val="1A1A1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Đặt câu hỏi — không có câu nào ngớ ngẩn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5555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4E0852-256C-B93C-A977-B843B92B9F4A}"/>
              </a:ext>
            </a:extLst>
          </p:cNvPr>
          <p:cNvSpPr txBox="1"/>
          <p:nvPr/>
        </p:nvSpPr>
        <p:spPr>
          <a:xfrm>
            <a:off x="2523460" y="429555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349240"/>
            <a:ext cx="12192000" cy="1508760"/>
          </a:xfrm>
          <a:prstGeom prst="rect">
            <a:avLst/>
          </a:prstGeom>
          <a:solidFill>
            <a:srgbClr val="1B3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512064"/>
            <a:ext cx="10637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ptos Display"/>
              </a:rPr>
              <a:t>Quét mã QR để nhận tài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70432"/>
            <a:ext cx="10363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900" b="0">
                <a:solidFill>
                  <a:srgbClr val="F7FBF6"/>
                </a:solidFill>
                <a:latin typeface="Aptos Display"/>
              </a:rPr>
              <a:t>Nhập email để nhận tài liệu về lập trình 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78808" y="1792224"/>
            <a:ext cx="3840480" cy="3840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97B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qr-ios-materials-form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039112"/>
            <a:ext cx="3346704" cy="3346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5806440"/>
            <a:ext cx="85344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>
                <a:solidFill>
                  <a:srgbClr val="F7FBF6"/>
                </a:solidFill>
                <a:latin typeface="Aptos Display"/>
              </a:rPr>
              <a:t>https://forms.gle/QwxUtTsD4bLW7uZZ9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3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1521440" y="0"/>
            <a:ext cx="640080" cy="164592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Cảm ơn!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731520" y="36576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Hẹn gặp lại ở ca 2 — góc nhìn Product &amp; Indie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5029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6492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7BC6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Nguyễn Quế Lân · VNGalaxy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2107</Words>
  <Application>Microsoft Macintosh PowerPoint</Application>
  <PresentationFormat>Widescreen</PresentationFormat>
  <Paragraphs>411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 Display</vt:lpstr>
      <vt:lpstr>Arial</vt:lpstr>
      <vt:lpstr>Courier New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 iOS — VKU — Ca 1 — Outsource</dc:title>
  <dc:subject>PptxGenJS Presentation</dc:subject>
  <dc:creator>Nguyễn Quế Lân</dc:creator>
  <cp:lastModifiedBy>Quế Lân Nguyễn</cp:lastModifiedBy>
  <cp:revision>21</cp:revision>
  <dcterms:created xsi:type="dcterms:W3CDTF">2026-05-15T22:58:27Z</dcterms:created>
  <dcterms:modified xsi:type="dcterms:W3CDTF">2026-05-15T23:50:42Z</dcterms:modified>
</cp:coreProperties>
</file>