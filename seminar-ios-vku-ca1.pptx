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72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3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03"/>
    <p:restoredTop sz="94610"/>
  </p:normalViewPr>
  <p:slideViewPr>
    <p:cSldViewPr snapToGrid="0" snapToObjects="1">
      <p:cViewPr varScale="1">
        <p:scale>
          <a:sx n="180" d="100"/>
          <a:sy n="180" d="100"/>
        </p:scale>
        <p:origin x="6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72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15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4" name="Image 0" descr="/Users/quelannguyen/workspace/vku-seminar/new/assets/devices-des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35240" y="502920"/>
            <a:ext cx="379476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4983480"/>
            <a:ext cx="3794760" cy="411480"/>
          </a:xfrm>
          <a:prstGeom prst="rect">
            <a:avLst/>
          </a:prstGeom>
          <a:solidFill>
            <a:srgbClr val="1B3A1F">
              <a:alpha val="88000"/>
            </a:srgbClr>
          </a:solidFill>
          <a:ln w="12700">
            <a:solidFill>
              <a:srgbClr val="1B3A1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502919"/>
            <a:ext cx="3794760" cy="4892039"/>
          </a:xfrm>
          <a:prstGeom prst="rect">
            <a:avLst/>
          </a:prstGeom>
          <a:solidFill>
            <a:srgbClr val="1B3A1F">
              <a:alpha val="45000"/>
            </a:srgbClr>
          </a:solidFill>
          <a:ln w="1016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VN" dirty="0"/>
          </a:p>
        </p:txBody>
      </p:sp>
      <p:sp>
        <p:nvSpPr>
          <p:cNvPr id="8" name="Text 5"/>
          <p:cNvSpPr/>
          <p:nvPr/>
        </p:nvSpPr>
        <p:spPr>
          <a:xfrm>
            <a:off x="731520" y="1051560"/>
            <a:ext cx="6720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Phát triển iOS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6720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Góc nhìn OUTSOURCE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731520" y="3730752"/>
            <a:ext cx="6583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Kỹ thuật · công cụ · thực trạng outsource Mobile tại Đà Nẵng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7909560" y="475488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97BC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82712" y="4855464"/>
            <a:ext cx="7223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887968" y="475488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97BC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0" y="4855464"/>
            <a:ext cx="7223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Xcode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921240" y="475488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97BC6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57816" y="4808337"/>
            <a:ext cx="795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Outsource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3152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— Technical Leader, VNGalaxy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talent: iOS ít người học hơn mức nhu cầu tuyển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Nếu Android cần 10 người...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309360" y="123444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...nhưng sinh viên học iOS lại rất ít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349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Nhu cầu tuyển dụng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Android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235000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154680" y="2441448"/>
            <a:ext cx="1920240" cy="219456"/>
          </a:xfrm>
          <a:prstGeom prst="rect">
            <a:avLst/>
          </a:prstGeom>
          <a:solidFill>
            <a:srgbClr val="DDE8D8"/>
          </a:solidFill>
          <a:ln w="12700">
            <a:solidFill>
              <a:srgbClr val="DDE8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2441448"/>
            <a:ext cx="1920240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40487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22,6%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1363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77440" y="30632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3154680" y="3154680"/>
            <a:ext cx="1920240" cy="219456"/>
          </a:xfrm>
          <a:prstGeom prst="rect">
            <a:avLst/>
          </a:prstGeom>
          <a:solidFill>
            <a:srgbClr val="DDE8D8"/>
          </a:solidFill>
          <a:ln w="12700">
            <a:solidFill>
              <a:srgbClr val="DDE8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3154680"/>
            <a:ext cx="1344168" cy="21945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118104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16,4%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73075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Quy đổi từ mục tiêu tuyển dụng 2024: Android 22,6%, iOS 16,4%. Nếu Android = 10 thì iOS ≈ 7.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217920" y="1691640"/>
            <a:ext cx="5349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8745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Pipeline sinh viên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2423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Android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0" y="235000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8823960" y="2441448"/>
            <a:ext cx="1920240" cy="219456"/>
          </a:xfrm>
          <a:prstGeom prst="rect">
            <a:avLst/>
          </a:prstGeom>
          <a:solidFill>
            <a:srgbClr val="DDE8D8"/>
          </a:solidFill>
          <a:ln w="12700">
            <a:solidFill>
              <a:srgbClr val="DDE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2441448"/>
            <a:ext cx="1920240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1363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iOS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6720" y="30632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700" dirty="0"/>
          </a:p>
        </p:txBody>
      </p:sp>
      <p:sp>
        <p:nvSpPr>
          <p:cNvPr id="29" name="Shape 27"/>
          <p:cNvSpPr/>
          <p:nvPr/>
        </p:nvSpPr>
        <p:spPr>
          <a:xfrm>
            <a:off x="8823960" y="3154680"/>
            <a:ext cx="1920240" cy="219456"/>
          </a:xfrm>
          <a:prstGeom prst="rect">
            <a:avLst/>
          </a:prstGeom>
          <a:solidFill>
            <a:srgbClr val="DDE8D8"/>
          </a:solidFill>
          <a:ln w="12700">
            <a:solidFill>
              <a:srgbClr val="DDE8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3154680"/>
            <a:ext cx="192024" cy="21945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73075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Minh họa từ quan sát lớp học/khảo sát nhanh: nhiều bạn chọn Android trước; iOS bị rào cản MacBook, iPhone, App Store.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548640" y="4754880"/>
            <a:ext cx="11018520" cy="1097280"/>
          </a:xfrm>
          <a:prstGeom prst="rect">
            <a:avLst/>
          </a:prstGeom>
          <a:solidFill>
            <a:srgbClr val="1B3A1F"/>
          </a:solidFill>
          <a:ln w="12700">
            <a:solidFill>
              <a:srgbClr val="1B3A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90118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Thông điệp chính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5193792"/>
            <a:ext cx="10469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Cơ hội cho intern/fresher: iOS không ít nhu cầu; điểm nghẽn là quá ít sinh viên chọn học và có app iOS thật.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594360" y="60807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Nguồn tuyển dụng: TopDev Vietnam IT &amp; Tech Talent Landscape 2024-2025, tr.34. Tỷ lệ sinh viên là minh họa/proxy, nên xác nhận bằng khảo sát nhanh tại lớp.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Về diễn giả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</a:t>
            </a:r>
            <a:endParaRPr lang="en-US" sz="2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Technical Leader — VNGalaxy</a:t>
            </a:r>
            <a:endParaRPr lang="en-US" sz="2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Chuyên môn: iOS, kiến trúc mobile, lead team kỹ thuật</a:t>
            </a:r>
            <a:endParaRPr lang="en-US" sz="2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Vai trò hôm nay: chia sẻ từ vị trí lead — chọn công nghệ, review code, tuyển dụng &amp; mentor</a:t>
            </a:r>
            <a:endParaRPr lang="en-US" sz="2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Liên hệ: sẽ chia sẻ ở slide cuối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Góc</a:t>
            </a: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3200" b="1" dirty="0" err="1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nhìn</a:t>
            </a: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OUTSOURCE, bạn sẽ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Hiểu dòng thời gian iOS: Obj-C → Swift, UIKit → SwiftUI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Biết cấu trúc một project Xcode chuẩn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Hình dung được một ngày của lập trình viên iOS outsource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Biết kỹ năng cần có để xin intern/fresher iOS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Biết outsource Mobile tại Đà Nẵng đang trông như thế nào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457200" y="1280160"/>
          <a:ext cx="11247120" cy="4023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Thời gian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Phút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Nội dung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08:00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Mở đầu &amp; khảo sát phòng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08:05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15'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Tổng quan lập trình iOS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08:20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15'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Objective-C → Swift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08:35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15'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UIKit vs SwiftUI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08:50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Công cụ + tour code mẫu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09:00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25'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OUTSOURCE iOS tại Đà Nẵng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09:25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5'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Q&amp;A &amp; chốt 3 điểm cần nhớ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7310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PHẦN 1 — KỸ THUẬT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Lập trình iOS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hôm nay trông như thế nào?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Hệ sinh thái Apple Platforms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Một ngôn ngữ và một toolchain đi qua nhiều thiết bị.</a:t>
            </a:r>
            <a:endParaRPr lang="en-US" sz="1350" dirty="0"/>
          </a:p>
        </p:txBody>
      </p:sp>
      <p:pic>
        <p:nvPicPr>
          <p:cNvPr id="7" name="Image 0" descr="/Users/quelannguyen/workspace/vku-seminar/new/assets/devices-des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1234440"/>
            <a:ext cx="361188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5074920"/>
            <a:ext cx="3611880" cy="411480"/>
          </a:xfrm>
          <a:prstGeom prst="rect">
            <a:avLst/>
          </a:prstGeom>
          <a:solidFill>
            <a:srgbClr val="1B3A1F">
              <a:alpha val="88000"/>
            </a:srgbClr>
          </a:solidFill>
          <a:ln w="12700">
            <a:solidFill>
              <a:srgbClr val="1B3A1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82712" y="5175504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Ảnh minh họa: Héctor Martínez / Wikimedia Commons CC0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85800" y="1691640"/>
            <a:ext cx="6492240" cy="109728"/>
          </a:xfrm>
          <a:prstGeom prst="rect">
            <a:avLst/>
          </a:prstGeom>
          <a:solidFill>
            <a:srgbClr val="DDE8D8"/>
          </a:solidFill>
          <a:ln w="12700">
            <a:solidFill>
              <a:srgbClr val="DDE8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1399032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1572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" y="217627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iOS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9224" y="248716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iPhone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084832" y="1399032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84832" y="1572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865376" y="217627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iPadOS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865376" y="248716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iPad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56432" y="1399032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56432" y="1572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36976" y="217627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watchOS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3236976" y="248716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73168" y="1399032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73168" y="1572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53712" y="217627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macOS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553712" y="248716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25312" y="1399032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25312" y="15727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705856" y="2176272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visionOS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5705856" y="248716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Spatial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31520" y="3154680"/>
            <a:ext cx="6675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VN" dirty="0"/>
          </a:p>
        </p:txBody>
      </p:sp>
      <p:sp>
        <p:nvSpPr>
          <p:cNvPr id="33" name="Text 30"/>
          <p:cNvSpPr/>
          <p:nvPr/>
        </p:nvSpPr>
        <p:spPr>
          <a:xfrm>
            <a:off x="960120" y="3246120"/>
            <a:ext cx="61722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Học iOS không chỉ là học một chiếc điện thoại.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 nắm Swift + Xcode + SDK, bạn có thể chuyển sang iPad, Mac, Watch hoặc visionOS dễ hơn nhiều so với học lại từ đầu.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Với outsource, đây là lợi thế khi client cần mở rộng nhiều nền tảng Apple.</a:t>
            </a:r>
            <a:endParaRPr lang="en-US" sz="1360" dirty="0"/>
          </a:p>
        </p:txBody>
      </p:sp>
      <p:sp>
        <p:nvSpPr>
          <p:cNvPr id="34" name="Text 31"/>
          <p:cNvSpPr/>
          <p:nvPr/>
        </p:nvSpPr>
        <p:spPr>
          <a:xfrm>
            <a:off x="594360" y="619963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Nguồn ảnh: Wikimedia Commons; nội dung kỹ thuật: Apple Developer platform documentation.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Cấu trúc một app iOS hiện đại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Đọc project theo luồng: UI -&gt; State/Logic -&gt; Data -&gt; Platform.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6400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55448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SwiftUI / UIKit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15544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Màn hình, component, navigation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41832" y="2377440"/>
            <a:ext cx="6144768" cy="658368"/>
          </a:xfrm>
          <a:prstGeom prst="rect">
            <a:avLst/>
          </a:prstGeom>
          <a:solidFill>
            <a:srgbClr val="EEF5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5603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93392" y="251460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ViewModel / Use case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59352" y="2514600"/>
            <a:ext cx="280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State, validation, async/await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106424" y="3337560"/>
            <a:ext cx="58887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352044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57984" y="347472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REST/GraphQL + local DB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23944" y="3474720"/>
            <a:ext cx="2642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Codable, cache, Core Data/SwiftData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271016" y="4297680"/>
            <a:ext cx="5632704" cy="658368"/>
          </a:xfrm>
          <a:prstGeom prst="rect">
            <a:avLst/>
          </a:prstGeom>
          <a:solidFill>
            <a:srgbClr val="EEF5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99615" y="4480560"/>
            <a:ext cx="103802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Platform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61080" y="445312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Apple SDK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88536" y="4434840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Push, Maps, Health, AV, StoreKit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18120" y="1325880"/>
            <a:ext cx="3611880" cy="4160520"/>
          </a:xfrm>
          <a:prstGeom prst="rect">
            <a:avLst/>
          </a:prstGeom>
          <a:solidFill>
            <a:srgbClr val="1B3A1F"/>
          </a:solidFill>
          <a:ln w="12700">
            <a:solidFill>
              <a:srgbClr val="1B3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162763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Ví dụ project outsource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38160" y="214884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1312" y="2249424"/>
            <a:ext cx="10881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555480" y="214884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28632" y="2249424"/>
            <a:ext cx="10881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Account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38160" y="2807208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11312" y="2907792"/>
            <a:ext cx="10881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Transfer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555480" y="2807208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28632" y="2907792"/>
            <a:ext cx="10881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KYC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3465576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1312" y="3566160"/>
            <a:ext cx="10881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555480" y="3465576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1B3A1F"/>
          </a:solidFill>
          <a:ln w="13970">
            <a:solidFill>
              <a:srgbClr val="97BC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28632" y="3566160"/>
            <a:ext cx="10881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Analytics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19872" y="4279392"/>
            <a:ext cx="2971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Nếu</a:t>
            </a:r>
            <a:r>
              <a:rPr lang="en-US" sz="13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bug ở màn hình login, </a:t>
            </a:r>
            <a:r>
              <a:rPr lang="en-US" sz="1350" b="1" dirty="0" err="1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bạn</a:t>
            </a:r>
            <a:r>
              <a:rPr lang="en-US" sz="13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sẽ bắt đầu đọc từ layer nào?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LỊCH SỬ NGÔN NGỮ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Từ Objective-C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đến Swift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Objective-C -&gt; Swift: đừng học như hai thế giới tách rời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 là chính, Objective-C giúp đọc legacy và hiểu nền tảng Apple lâu đời.</a:t>
            </a:r>
            <a:endParaRPr lang="en-US" sz="1350" dirty="0"/>
          </a:p>
        </p:txBody>
      </p:sp>
      <p:pic>
        <p:nvPicPr>
          <p:cNvPr id="7" name="Image 0" descr="/Users/quelannguyen/workspace/vku-seminar/new/assets/swif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24128"/>
            <a:ext cx="2148840" cy="6675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" y="2971800"/>
            <a:ext cx="9875520" cy="64008"/>
          </a:xfrm>
          <a:prstGeom prst="rect">
            <a:avLst/>
          </a:prstGeom>
          <a:solidFill>
            <a:srgbClr val="CBDCC6"/>
          </a:solidFill>
          <a:ln w="12700">
            <a:solidFill>
              <a:srgbClr val="CBDC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4088" y="2807208"/>
            <a:ext cx="384048" cy="38404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139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1984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5448" y="24323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Objective-C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 + Smalltalk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message syntax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72968" y="2807208"/>
            <a:ext cx="384048" cy="38404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0" y="2139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2008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624328" y="24323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UIKit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56032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iPhone SDK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 UI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41848" y="280720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94960" y="2139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2014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93208" y="24323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type-safe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modern syntax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10728" y="2807208"/>
            <a:ext cx="384048" cy="38404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63840" y="2139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2019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562088" y="24323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SwiftUI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9808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declarative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state-driven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0579608" y="280720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332720" y="2139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030968" y="243230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 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96696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 concurrency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safer async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14400" y="4754880"/>
            <a:ext cx="10561320" cy="749808"/>
          </a:xfrm>
          <a:prstGeom prst="rect">
            <a:avLst/>
          </a:prstGeom>
          <a:solidFill>
            <a:srgbClr val="1B3A1F"/>
          </a:solidFill>
          <a:ln w="12700">
            <a:solidFill>
              <a:srgbClr val="1B3A1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43000" y="5010912"/>
            <a:ext cx="10012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Viết</a:t>
            </a: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Swift tốt, nhưng phải đọc được Obj-C/bridging khi gặp codebase cũ.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94360" y="619963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Logo Swift: Apple Inc via Wikimedia Commons, Apache 2.0. Mốc thời gian: Apple Developer / Swift project history.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UIKit vs SwiftUI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hai paradigm, một hệ sinh thái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UIKit vs SwiftUI: khác nhau ở cách nghĩ, không chỉ cú pháp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Dùng ví dụ state để giải thích vì sao SwiftUI dễ bắt đầu hơn nhưng UIKit vẫn mạnh.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230368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5230368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UIKit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749040" y="1783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Imperative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Controller nói UI phải làm gì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05840" y="2852928"/>
            <a:ext cx="4572000" cy="1325880"/>
          </a:xfrm>
          <a:prstGeom prst="rect">
            <a:avLst/>
          </a:prstGeom>
          <a:solidFill>
            <a:srgbClr val="102018"/>
          </a:solidFill>
          <a:ln w="12700">
            <a:solidFill>
              <a:srgbClr val="1020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3090672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UIViewController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viewDidLoad()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button.addTarget(...)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tableView.reloadData()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45262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 lâu đời, control sâu, nhiều code legacy.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0" y="1417320"/>
            <a:ext cx="5230368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417320"/>
            <a:ext cx="5230368" cy="10972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SwiftUI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464040" y="1783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Declarative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2240280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 đổi -&gt; View tự render lại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720840" y="2852928"/>
            <a:ext cx="4572000" cy="1325880"/>
          </a:xfrm>
          <a:prstGeom prst="rect">
            <a:avLst/>
          </a:prstGeom>
          <a:solidFill>
            <a:srgbClr val="102018"/>
          </a:solidFill>
          <a:ln w="12700">
            <a:solidFill>
              <a:srgbClr val="1020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3090672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ContentView: View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var items = []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List(items) { ... 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93408" y="45262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Nhanh cho màn hình mới, preview tốt, gọn cho junior.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Chọn UIKit hay SwiftUI trong thực tế 2026?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Quyết định theo codebase, target iOS version và mức custom UI.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701918" y="1589234"/>
            <a:ext cx="3657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0518" y="175382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Màn mới, target iOS mới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88118" y="1900130"/>
            <a:ext cx="73152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0766" y="1817834"/>
            <a:ext cx="164592" cy="2011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48238" y="1589234"/>
            <a:ext cx="2971800" cy="69494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9406" y="177211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SwiftUI trước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701918" y="2640794"/>
            <a:ext cx="3657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0518" y="280538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Codebase cũ / screen phức tạp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588118" y="2951690"/>
            <a:ext cx="73152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0766" y="2869394"/>
            <a:ext cx="164592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48238" y="2640794"/>
            <a:ext cx="2971800" cy="6949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9406" y="282367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UIKit vẫn sống khỏe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701918" y="3692354"/>
            <a:ext cx="3657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30518" y="385694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outsource enterprise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588118" y="4003250"/>
            <a:ext cx="731520" cy="457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00766" y="3920954"/>
            <a:ext cx="164592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48238" y="3692354"/>
            <a:ext cx="2971800" cy="69494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9406" y="387523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Hybrid là mặc định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038788" y="4972514"/>
            <a:ext cx="7098660" cy="1243584"/>
          </a:xfrm>
          <a:prstGeom prst="rect">
            <a:avLst/>
          </a:prstGeom>
          <a:solidFill>
            <a:srgbClr val="EEF5E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VN" dirty="0"/>
          </a:p>
        </p:txBody>
      </p:sp>
      <p:sp>
        <p:nvSpPr>
          <p:cNvPr id="27" name="Text 25"/>
          <p:cNvSpPr/>
          <p:nvPr/>
        </p:nvSpPr>
        <p:spPr>
          <a:xfrm>
            <a:off x="2870807" y="5131071"/>
            <a:ext cx="5403058" cy="728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Học cả hai.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Interview outsource hay hỏi: UIKit lifecycle, Auto Layout, SwiftUI state.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CÔNG CỤ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Xcode, SPM,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Instruments &amp; tour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Bộ công cụ tối thiểu: Xcode là trung tâm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4398264"/>
            <a:ext cx="5248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Screenshot Xcode: HtetPyae / Wikimedia Commons CC BY-SA 4.0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269480" y="1707801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34072" y="1854105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Xcode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34072" y="2119281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 + build + simulator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9555480" y="1707801"/>
            <a:ext cx="1965960" cy="749808"/>
          </a:xfrm>
          <a:prstGeom prst="rect">
            <a:avLst/>
          </a:prstGeom>
          <a:solidFill>
            <a:srgbClr val="EEF5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20072" y="1854105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SPM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720072" y="2119281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Quản lý package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7269480" y="2832513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34072" y="2978817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Instruments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434072" y="3243993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/ CPU / energy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9555480" y="2832513"/>
            <a:ext cx="1965960" cy="749808"/>
          </a:xfrm>
          <a:prstGeom prst="rect">
            <a:avLst/>
          </a:prstGeom>
          <a:solidFill>
            <a:srgbClr val="EEF5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20072" y="2978817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TestFlight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720072" y="3243993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Beta trước release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7269480" y="3957225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34072" y="4103529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Xcode Cloud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434072" y="4368705"/>
            <a:ext cx="1627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CI/CD chính chủ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850392" y="5786025"/>
            <a:ext cx="10424160" cy="566928"/>
          </a:xfrm>
          <a:prstGeom prst="rect">
            <a:avLst/>
          </a:prstGeom>
          <a:solidFill>
            <a:srgbClr val="1B3A1F"/>
          </a:solidFill>
          <a:ln w="12700">
            <a:solidFill>
              <a:srgbClr val="1B3A1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06424" y="5996337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 iOS không chỉ viết Swift; còn phải build, test, đo performance và phát hành qua App Store ecosystem.</a:t>
            </a:r>
            <a:endParaRPr lang="en-US" sz="1380" dirty="0"/>
          </a:p>
        </p:txBody>
      </p:sp>
      <p:sp>
        <p:nvSpPr>
          <p:cNvPr id="27" name="Text 2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5F949F-4B6F-72FD-ED9D-4CFDF0F14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6573"/>
            <a:ext cx="6322788" cy="39331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Tour code mẫu: đọc project như đọc bản đồ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Không cần gõ live; chỉ cần chỉ đúng vai trò từng thư mục.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97480" y="1527048"/>
            <a:ext cx="777240" cy="36576"/>
          </a:xfrm>
          <a:prstGeom prst="rect">
            <a:avLst/>
          </a:prstGeom>
          <a:solidFill>
            <a:srgbClr val="CBDCC6"/>
          </a:solidFill>
          <a:ln w="12700">
            <a:solidFill>
              <a:srgbClr val="CBD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4356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entry point, DI, app lifecycle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77240" y="2075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Features/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97480" y="2185416"/>
            <a:ext cx="777240" cy="36576"/>
          </a:xfrm>
          <a:prstGeom prst="rect">
            <a:avLst/>
          </a:prstGeom>
          <a:solidFill>
            <a:srgbClr val="CBDCC6"/>
          </a:solidFill>
          <a:ln w="12700">
            <a:solidFill>
              <a:srgbClr val="CBDC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939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mỗi màn hình / flow là một module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77240" y="27340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97480" y="2843784"/>
            <a:ext cx="777240" cy="36576"/>
          </a:xfrm>
          <a:prstGeom prst="rect">
            <a:avLst/>
          </a:prstGeom>
          <a:solidFill>
            <a:srgbClr val="CBDCC6"/>
          </a:solidFill>
          <a:ln w="12700">
            <a:solidFill>
              <a:srgbClr val="CBDC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7523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networking, persistence, design system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77240" y="33924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97480" y="3502152"/>
            <a:ext cx="777240" cy="36576"/>
          </a:xfrm>
          <a:prstGeom prst="rect">
            <a:avLst/>
          </a:prstGeom>
          <a:solidFill>
            <a:srgbClr val="CBDCC6"/>
          </a:solidFill>
          <a:ln w="12700">
            <a:solidFill>
              <a:srgbClr val="CBDC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4107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asset catalog, localizable strings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77240" y="4050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97480" y="4160520"/>
            <a:ext cx="777240" cy="36576"/>
          </a:xfrm>
          <a:prstGeom prst="rect">
            <a:avLst/>
          </a:prstGeom>
          <a:solidFill>
            <a:srgbClr val="CBDCC6"/>
          </a:solidFill>
          <a:ln w="12700">
            <a:solidFill>
              <a:srgbClr val="CBDC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40690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unit test, UI test, fixtures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543800" y="1325880"/>
            <a:ext cx="3749040" cy="3611880"/>
          </a:xfrm>
          <a:prstGeom prst="rect">
            <a:avLst/>
          </a:prstGeom>
          <a:solidFill>
            <a:srgbClr val="10201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1691640"/>
            <a:ext cx="32461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ChecklistView: View {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@State var items: [Item]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body: some View {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List(items) { item in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Row(item)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.task { await viewModel.load() }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7818120" y="44348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Điểm nhấn demo: View -&gt; ViewModel -&gt; Service -&gt; State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OUTSOURCE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 err="1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Đi</a:t>
            </a: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5200" b="1" dirty="0" err="1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làm</a:t>
            </a: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OUTSROUCE,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làm cho khách quốc tế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Outsource là gì?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Hãy giải thích bằng luồng trách nhiệm, không chỉ bằng định nghĩa.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2240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2677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 / JP / EU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60520" y="1920240"/>
            <a:ext cx="2240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22677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VN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PM · Dev · QA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0" y="1920240"/>
            <a:ext cx="2240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62672" y="22677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/ Feature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TestFlight -&gt; Store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54680" y="2487168"/>
            <a:ext cx="73152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58184" y="2395728"/>
            <a:ext cx="182880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87168"/>
            <a:ext cx="73152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95744" y="2395728"/>
            <a:ext cx="182880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069080"/>
            <a:ext cx="9829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 trả tiền cho năng lực delivery: hiểu requirement, estimate, code, test, release, maintain.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572000"/>
            <a:ext cx="9281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Không sở hữu sản phẩm cuối, nhưng học được quy trình enterprise và làm việc với khách quốc tế.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Outsource ≠ Product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OUTSOURCE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5166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Bán giờ công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Thu nhập tuyến tính (người × giờ)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Chắc chắn, ổn định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Học quy trình enterprise nhanh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Tiếp xúc client quốc tế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17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5166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Bán sản phẩm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Thu nhập có thể scale phi tuyến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Rủi ro cao, upside lớn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Học toàn diện hơn (PM · marketing · ops)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Có 'chủ quyền' với app của mình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Đà Nẵng: outsource Mobile có đất diễn nếu bạn có iOS thật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Dùng bức tranh địa phương để sinh viên thấy cơ hội gần mình.</a:t>
            </a:r>
            <a:endParaRPr lang="en-US" sz="1350" dirty="0"/>
          </a:p>
        </p:txBody>
      </p:sp>
      <p:pic>
        <p:nvPicPr>
          <p:cNvPr id="7" name="Image 0" descr="/Users/quelannguyen/workspace/vku-seminar/new/assets/dragon-bridg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0840" y="1234440"/>
            <a:ext cx="4617720" cy="4343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520" y="1417320"/>
            <a:ext cx="5394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16002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560320" y="162763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trung tâm CNTT lớn của Việt Nam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1520" y="2532888"/>
            <a:ext cx="5394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7157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JP · US · EU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560320" y="274320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thị trường outsource phổ biến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31520" y="3648456"/>
            <a:ext cx="5394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38313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iOS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560320" y="385876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cung nhân lực mỏng hơn Android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68680" y="46817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Nhu cầu tuyển Android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926080" y="4718304"/>
            <a:ext cx="2103120" cy="182880"/>
          </a:xfrm>
          <a:prstGeom prst="rect">
            <a:avLst/>
          </a:prstGeom>
          <a:solidFill>
            <a:srgbClr val="DDE8D8"/>
          </a:solidFill>
          <a:ln w="12700">
            <a:solidFill>
              <a:srgbClr val="DDE8D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26080" y="4718304"/>
            <a:ext cx="210312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66360" y="46725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" y="5074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Nhu cầu tuyển iOS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926080" y="5111496"/>
            <a:ext cx="2103120" cy="182880"/>
          </a:xfrm>
          <a:prstGeom prst="rect">
            <a:avLst/>
          </a:prstGeom>
          <a:solidFill>
            <a:srgbClr val="DDE8D8"/>
          </a:solidFill>
          <a:ln w="12700">
            <a:solidFill>
              <a:srgbClr val="DDE8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26080" y="5111496"/>
            <a:ext cx="1472184" cy="1828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66360" y="506577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4360" y="619963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Số liệu nhu cầu: quy đổi từ TopDev Vietnam IT &amp; Tech Talent Landscape 2024-2025, tr.34. Ảnh: Wikimedia Commons.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Một ngày của iOS dev outsource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Sinh viên cần hình dung công việc lặp lại theo nhịp sprint và client timezone.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9966960" cy="73152"/>
          </a:xfrm>
          <a:prstGeom prst="rect">
            <a:avLst/>
          </a:prstGeom>
          <a:solidFill>
            <a:srgbClr val="CBDCC6"/>
          </a:solidFill>
          <a:ln w="12700">
            <a:solidFill>
              <a:srgbClr val="CBDC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606040"/>
            <a:ext cx="530352" cy="5303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20240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08:30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3429000"/>
            <a:ext cx="1417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Pull code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Jira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72968" y="2606040"/>
            <a:ext cx="530352" cy="53035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920240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10:00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15768" y="3429000"/>
            <a:ext cx="1417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1216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 feature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Unit test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0136" y="2606040"/>
            <a:ext cx="530352" cy="5303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1920240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14:00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02936" y="3429000"/>
            <a:ext cx="1417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 review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QA bug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47304" y="2606040"/>
            <a:ext cx="530352" cy="53035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91856" y="1920240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16:30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90104" y="3429000"/>
            <a:ext cx="1417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Retro / planning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634472" y="2606040"/>
            <a:ext cx="530352" cy="53035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79024" y="1920240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21:00?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177272" y="3429000"/>
            <a:ext cx="1417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3272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Sync US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 cần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143000" y="5074920"/>
            <a:ext cx="9692640" cy="530352"/>
          </a:xfrm>
          <a:prstGeom prst="rect">
            <a:avLst/>
          </a:prstGeom>
          <a:solidFill>
            <a:srgbClr val="1B3A1F"/>
          </a:solidFill>
          <a:ln w="12700">
            <a:solidFill>
              <a:srgbClr val="1B3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5285232"/>
            <a:ext cx="9144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Kỹ năng mềm thật sự: đọc ticket rõ, hỏi sớm, update tiến độ và giao tiếp bằng tiếng Anh.</a:t>
            </a:r>
            <a:endParaRPr lang="en-US" sz="1380" dirty="0"/>
          </a:p>
        </p:txBody>
      </p:sp>
      <p:sp>
        <p:nvSpPr>
          <p:cNvPr id="30" name="Text 28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Quy trình một dự án outsource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 này giúp sinh viên thấy ticket không tự nhiên xuất hiện trong Jira.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29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23042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Pre-sales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6609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proposal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estimate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075688" y="2468880"/>
            <a:ext cx="32004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2386584"/>
            <a:ext cx="109728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874520"/>
            <a:ext cx="1417320" cy="1234440"/>
          </a:xfrm>
          <a:prstGeom prst="rect">
            <a:avLst/>
          </a:prstGeom>
          <a:solidFill>
            <a:srgbClr val="EEF5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029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24912" y="23042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Kick-off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70048" y="26609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scope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size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950208" y="2468880"/>
            <a:ext cx="32004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2386584"/>
            <a:ext cx="109728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187452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029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99432" y="23042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Sprint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44568" y="26609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 -&gt; code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-&gt; retro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824728" y="2468880"/>
            <a:ext cx="32004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2386584"/>
            <a:ext cx="109728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874520"/>
            <a:ext cx="1417320" cy="1234440"/>
          </a:xfrm>
          <a:prstGeom prst="rect">
            <a:avLst/>
          </a:prstGeom>
          <a:solidFill>
            <a:srgbClr val="EEF5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029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73952" y="23042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UAT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19088" y="26609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 test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 bug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699248" y="2468880"/>
            <a:ext cx="32004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2386584"/>
            <a:ext cx="109728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187452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2029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48472" y="23042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Release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93608" y="26609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TestFlight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Store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9573768" y="2468880"/>
            <a:ext cx="32004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29800" y="2386584"/>
            <a:ext cx="109728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66960" y="1874520"/>
            <a:ext cx="1417320" cy="1234440"/>
          </a:xfrm>
          <a:prstGeom prst="rect">
            <a:avLst/>
          </a:prstGeom>
          <a:solidFill>
            <a:srgbClr val="EEF5E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04120" y="20299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222992" y="23042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Maintain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168128" y="26609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fix bug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iOS update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960120" y="4434840"/>
            <a:ext cx="10195560" cy="777240"/>
          </a:xfrm>
          <a:prstGeom prst="rect">
            <a:avLst/>
          </a:prstGeom>
          <a:solidFill>
            <a:srgbClr val="1B3A1F"/>
          </a:solidFill>
          <a:ln w="12700">
            <a:solidFill>
              <a:srgbClr val="1B3A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34440" y="4718304"/>
            <a:ext cx="9646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Điểm cần nhấn mạnh: intern/fresher thường vào ở Sprint/bugfix, nhưng phải hiểu cả chuỗi để làm việc có trách nhiệm.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Vai trò trong team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Hierarchy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5166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Intern / Fresher — task nhỏ, học từ senior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Junior (1–2y) — code feature có hướng dẫn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Senior (3–5y) — thiết kế module, review code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 Lead (5y+) — kiến trúc, làm việc trực tiếp client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17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Vai trò đặc thù VN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5166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BrSE / Comtor (Nhật) — cầu nối ngôn ngữ-kỹ thuật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Solution Architect — design hệ thống pre-sales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QA Lead — kiểm thử, viết test plan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Scrum Master / PM — quản lý sprint, báo cáo client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Kỹ năng cần để xin intern/fresher iOS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Gom kỹ năng thành bản đồ ưu tiên để sinh viên tự học không bị loạn.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51560" y="1691640"/>
            <a:ext cx="2331720" cy="11155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00253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Swift + 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313432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được màn đơn giản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160520" y="1691640"/>
            <a:ext cx="2331720" cy="11155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00253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 + JSON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2313432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gọi API, parse, error state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269480" y="1691640"/>
            <a:ext cx="2331720" cy="11155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200253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 + Jira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2313432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branch, PR, conflict, sprint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606040" y="3886200"/>
            <a:ext cx="2331720" cy="11155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419709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English docs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4507992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đọc Apple docs mỗi ngày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715000" y="3886200"/>
            <a:ext cx="2331720" cy="11155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419709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Self-learning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4507992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WWDC đổi liên tục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914400" y="54864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Bài tập về nhà: đưa 1 app nhỏ lên GitHub, có README, ảnh màn hình, API/mock data và ít nhất 5 commit rõ nghĩa.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Outsource — Ưu &amp; Nhược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Ưu điểm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5166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Dễ tìm việc đầu sự nghiệp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Tiếp xúc client quốc tế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Cải thiện tiếng Anh nhanh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Mức lương khởi điểm tốt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Học engineering chuyên nghiệp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17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Nhược điểm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5166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Ít 'chủ quyền' sản phẩm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Đôi khi làm mảng lặp lại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Ít cơ hội học design/PM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Phụ thuộc dòng dự án từ client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Career path đôi khi đóng khung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“Outsource là trường học engineering tốt nhất Việt Nam — đi 2–3 năm bạn sẽ trưởng thành rất nhanh.”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điểm </a:t>
            </a:r>
            <a:r>
              <a:rPr lang="en-US" sz="3200" b="1" dirty="0" err="1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cần</a:t>
            </a: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3200" b="1" dirty="0" err="1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nhớ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Swift + SwiftUI là tương lai — UIKit vẫn còn cần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Outsource = trường học engineering, không phải đích đến cuối</a:t>
            </a:r>
            <a:endParaRPr lang="en-US" sz="2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Tiếng Anh + Git + tự học = bộ ba bắt buộc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7B967B-62BD-E03A-B204-967D35C85771}"/>
              </a:ext>
            </a:extLst>
          </p:cNvPr>
          <p:cNvSpPr txBox="1"/>
          <p:nvPr/>
        </p:nvSpPr>
        <p:spPr>
          <a:xfrm>
            <a:off x="-829340" y="4572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Q&amp;A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Bạn nào đã thử apply intern iOS?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Khó khăn lớn nhất khi đi phỏng vấn là gì?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Bạn muốn hỏi gì về quy trình </a:t>
            </a:r>
            <a:r>
              <a:rPr lang="en-US" sz="2200" dirty="0" err="1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tuyển</a:t>
            </a: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200" dirty="0" err="1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dụng</a:t>
            </a:r>
            <a:r>
              <a:rPr lang="en-US" sz="2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công nghệ?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Đặt câu hỏi — không có câu nào ngớ ngẩn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E0852-256C-B93C-A977-B843B92B9F4A}"/>
              </a:ext>
            </a:extLst>
          </p:cNvPr>
          <p:cNvSpPr txBox="1"/>
          <p:nvPr/>
        </p:nvSpPr>
        <p:spPr>
          <a:xfrm>
            <a:off x="2523460" y="42955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3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4008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Cảm ơn!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Hẹn gặp lại ở ca 2 — góc nhìn Product &amp; Indie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0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Nguyễn Quế Lân · VNGalaxy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2053</Words>
  <Application>Microsoft Macintosh PowerPoint</Application>
  <PresentationFormat>Widescreen</PresentationFormat>
  <Paragraphs>400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Courier New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iOS — VKU — Ca 1 — Outsource</dc:title>
  <dc:subject>PptxGenJS Presentation</dc:subject>
  <dc:creator>Nguyễn Quế Lân</dc:creator>
  <cp:lastModifiedBy>Quế Lân Nguyễn</cp:lastModifiedBy>
  <cp:revision>20</cp:revision>
  <dcterms:created xsi:type="dcterms:W3CDTF">2026-05-15T22:58:27Z</dcterms:created>
  <dcterms:modified xsi:type="dcterms:W3CDTF">2026-05-15T23:35:00Z</dcterms:modified>
</cp:coreProperties>
</file>