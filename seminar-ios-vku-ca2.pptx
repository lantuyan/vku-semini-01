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72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6" r:id="rId30"/>
    <p:sldId id="285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48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022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/Users/quelannguyen/workspace/vku-seminar/new/assets/devices-des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35240" y="502920"/>
            <a:ext cx="379476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4983480"/>
            <a:ext cx="3794760" cy="411480"/>
          </a:xfrm>
          <a:prstGeom prst="rect">
            <a:avLst/>
          </a:prstGeom>
          <a:solidFill>
            <a:srgbClr val="1B3A1F">
              <a:alpha val="88000"/>
            </a:srgbClr>
          </a:solidFill>
          <a:ln w="12700">
            <a:solidFill>
              <a:srgbClr val="1B3A1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99832" y="5084064"/>
            <a:ext cx="34655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Ảnh minh họa: Héctor Martínez / Wikimedia Commons CC0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635240" y="502920"/>
            <a:ext cx="3794760" cy="4892040"/>
          </a:xfrm>
          <a:prstGeom prst="rect">
            <a:avLst/>
          </a:prstGeom>
          <a:solidFill>
            <a:srgbClr val="1B3A1F">
              <a:alpha val="45000"/>
            </a:srgbClr>
          </a:solidFill>
          <a:ln w="10160">
            <a:solidFill>
              <a:srgbClr val="97BC6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051560"/>
            <a:ext cx="6720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triển iOS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731520" y="2057400"/>
            <a:ext cx="6720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 nhìn PRODUCT &amp; INDIE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731520" y="3730752"/>
            <a:ext cx="6583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thuật · công cụ · câu chuyện Flappy Bird &amp; con đường indie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7909560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82712" y="4855464"/>
            <a:ext cx="72237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87968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61120" y="4855464"/>
            <a:ext cx="72237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921240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994392" y="4855464"/>
            <a:ext cx="72237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3152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— Technical Leader, VNGalaxy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3152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Sinh viên năm 2 — VKU · Sáng thứ Bảy · 2 ca × 90 phút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talent: iOS ít người học hơn mức nhu cầu tuyển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3444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Nếu Android cần 10 người...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309360" y="123444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...nhưng sinh viên học iOS lại rất ít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53492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Nhu cầu tuyển dụng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377440" y="2350008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3154680" y="2441448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54680" y="2441448"/>
            <a:ext cx="192024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240487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22,6%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1363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377440" y="3063240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3154680" y="3154680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54680" y="3154680"/>
            <a:ext cx="1344168" cy="21945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118104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16,4%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730752"/>
            <a:ext cx="4617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 đổi từ mục tiêu tuyển dụng 2024: Android 22,6%, iOS 16,4%. Nếu Android = 10 thì iOS ≈ 7.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217920" y="1691640"/>
            <a:ext cx="53492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8745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Pipeline sinh viên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37960" y="24231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0" y="2350008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8823960" y="2441448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2441448"/>
            <a:ext cx="192024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1363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046720" y="3063240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8823960" y="3154680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3960" y="3154680"/>
            <a:ext cx="192024" cy="21945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3730752"/>
            <a:ext cx="4617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Minh họa từ quan sát lớp học/khảo sát nhanh: nhiều bạn chọn Android trước; iOS bị rào cản MacBook, iPhone, App Store.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48640" y="4754880"/>
            <a:ext cx="11018520" cy="1097280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90118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Thông điệp chính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5193792"/>
            <a:ext cx="10469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Cơ hội cho product/indie: chọn iOS giúp bạn nổi bật nhanh hơn, vì nguồn người học mỏng hơn nhiều so với Android.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594360" y="608076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Nguồn tuyển dụng: TopDev Vietnam IT &amp; Tech Talent Landscape 2024-2025, tr.34. Tỷ lệ sinh viên là minh họa/proxy, nên xác nhận bằng khảo sát nhanh tại lớp.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Về diễn giả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Technical Leader — VNGalaxy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Chuyên môn: iOS, kiến trúc mobile, lead team kỹ thuật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hôm nay: kể câu chuyện product từ góc nhìn người đã build sản phẩm </a:t>
            </a:r>
            <a:r>
              <a:rPr lang="en-US" sz="2200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thực</a:t>
            </a: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2200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tế</a:t>
            </a:r>
            <a:endParaRPr lang="en-US" sz="2200" dirty="0">
              <a:solidFill>
                <a:srgbClr val="1A1A1A"/>
              </a:solidFill>
              <a:latin typeface="Helvetica" pitchFamily="34" charset="0"/>
              <a:ea typeface="Helvetica" pitchFamily="34" charset="-122"/>
              <a:cs typeface="Helvetica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nhìn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PRODUCT &amp; INDIE, bạn sẽ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vòng đời một product iOS từ idea đến App Store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các mô hình monetization phổ biến năm 2026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vì sao Flappy Bird đáng được nhắc tới mỗi năm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 một roadmap thực tế để đi đường indie từ sinh viên năm 2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Phân biệt được khi nào nên outsource, khi nào nên làm product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Timeline ca 2 — 09:35 đến 11:00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457200" y="1280160"/>
          <a:ext cx="11247120" cy="40233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3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Thời gian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Phút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Nội dung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09:35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Mở đầu ca 2 — đổi tone sang 'làm sản phẩm của mình'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09:40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Tổng quan iOS (đi nhanh, ví dụ khác ca 1)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09:55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Obj-C → Swift từ góc nhìn người làm product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10:10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UIKit vs SwiftUI — chọn cái nào cho indie?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10:25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Công cụ + tour code mẫu (nhấn StoreKit, ASO)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10:30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PRODUCT/INDIE — case Flappy Bird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10:55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Q&amp;A &amp; lời nhắn cuối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76843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1 — KỸ THUẬT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Lập trình iOS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hôm nay trông như thế nào?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Hệ sinh thái Apple Platforms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ngôn ngữ và một toolchain đi qua nhiều thiết bị.</a:t>
            </a:r>
            <a:endParaRPr lang="en-US" sz="1350" dirty="0"/>
          </a:p>
        </p:txBody>
      </p:sp>
      <p:pic>
        <p:nvPicPr>
          <p:cNvPr id="7" name="Image 0" descr="/Users/quelannguyen/workspace/vku-seminar/new/assets/devices-des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18120" y="1234440"/>
            <a:ext cx="3611880" cy="4251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5074920"/>
            <a:ext cx="3611880" cy="411480"/>
          </a:xfrm>
          <a:prstGeom prst="rect">
            <a:avLst/>
          </a:prstGeom>
          <a:solidFill>
            <a:srgbClr val="1B3A1F">
              <a:alpha val="88000"/>
            </a:srgbClr>
          </a:solidFill>
          <a:ln w="12700">
            <a:solidFill>
              <a:srgbClr val="1B3A1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82712" y="5175504"/>
            <a:ext cx="32826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Ảnh minh họa: Héctor Martínez / Wikimedia Commons CC0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85800" y="1691640"/>
            <a:ext cx="6492240" cy="109728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9224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9224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084832" y="1399032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08483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86537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iPadOS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86537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iPad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456432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3697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watchOS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23697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73168" y="1399032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73168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53712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macOS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53712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25312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2531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70585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visionOS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70585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Spatial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31520" y="3154680"/>
            <a:ext cx="6675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60120" y="3337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Ý cần giải thích cho sinh viên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60120" y="363931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iOS không chỉ là học một chiếc điện thoại.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Khi nắm Swift + Xcode + SDK, bạn có thể chuyển sang iPad, Mac, Watch hoặc visionOS dễ hơn nhiều so với học lại từ đầu.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Với indie, đây là lợi thế khi mở rộng sản phẩm ra nhiều thiết bị.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594360" y="6199632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Nguồn ảnh: Wikimedia Commons; nội dung kỹ thuật: Apple Developer platform documentation.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một app iOS hiện đại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Đọc project theo luồng: UI -&gt; State/Logic -&gt; Data -&gt; Platform.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6400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55448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/ UIKit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1554480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Màn hình, component, navigation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1832" y="2377440"/>
            <a:ext cx="6144768" cy="65836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56032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93392" y="251460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ViewModel / Use case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59352" y="2514600"/>
            <a:ext cx="2807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State, validation, async/await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106424" y="3337560"/>
            <a:ext cx="58887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5024" y="352044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57984" y="347472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REST/GraphQL + local DB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23944" y="3474720"/>
            <a:ext cx="26426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Codable, cache, Core Data/SwiftData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271016" y="4297680"/>
            <a:ext cx="5632704" cy="65836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99616" y="448056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22576" y="443484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SDK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88536" y="4434840"/>
            <a:ext cx="2478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Push, Maps, Health, AV, StoreKit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818120" y="1325880"/>
            <a:ext cx="3611880" cy="4160520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1627632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Ví dụ project outsource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38160" y="2148840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1312" y="2249424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555480" y="2148840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28632" y="2249424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Paywall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38160" y="2807208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11312" y="2907792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feature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555480" y="2807208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28632" y="2907792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Settings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38160" y="3465576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1312" y="3566160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555480" y="3465576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28632" y="3566160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Support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119872" y="4617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Câu hỏi hay để hỏi lớp: nếu bug ở màn hình login, em sẽ bắt đầu đọc từ layer nào?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LỊCH SỬ NGÔN NGỮ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Từ Objective-C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đến Swift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-&gt; Swift: đừng học như hai thế giới tách rời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là chính, Objective-C giúp đọc legacy và hiểu nền tảng Apple lâu đời.</a:t>
            </a:r>
            <a:endParaRPr lang="en-US" sz="1350" dirty="0"/>
          </a:p>
        </p:txBody>
      </p:sp>
      <p:pic>
        <p:nvPicPr>
          <p:cNvPr id="7" name="Image 0" descr="/Users/quelannguyen/workspace/vku-seminar/new/assets/swif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024128"/>
            <a:ext cx="2148840" cy="6675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68680" y="2971800"/>
            <a:ext cx="9875520" cy="64008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088" y="2807208"/>
            <a:ext cx="384048" cy="38404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1984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5544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 + Smalltalk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 syntax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172968" y="2807208"/>
            <a:ext cx="384048" cy="38404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2608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2008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62432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56032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SDK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production UI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41848" y="2807208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9496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2014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9320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type-safe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modern syntax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2807208"/>
            <a:ext cx="384048" cy="38404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2019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56208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49808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declarative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state-driven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0579608" y="2807208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33272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3096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996696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strict concurrency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safer async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14400" y="4754880"/>
            <a:ext cx="10561320" cy="749808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143000" y="5010912"/>
            <a:ext cx="10012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Thông điệp indie: chọn Swift/SwiftUI để ship nhanh, biết Obj-C như kiến thức nền.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94360" y="6199632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Logo Swift: Apple Inc via Wikimedia Commons, Apache 2.0. Mốc thời gian: Apple Developer / Swift project history.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paradigm, một hệ sinh thái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SwiftUI: khác nhau ở cách nghĩ, không chỉ cú pháp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Dùng ví dụ state để giải thích vì sao SwiftUI dễ bắt đầu hơn nhưng UIKit vẫn mạnh.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5230368" cy="4343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17320"/>
            <a:ext cx="5230368" cy="10972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Imperative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224028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Controller nói UI phải làm gì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05840" y="2852928"/>
            <a:ext cx="4572000" cy="1325880"/>
          </a:xfrm>
          <a:prstGeom prst="rect">
            <a:avLst/>
          </a:prstGeom>
          <a:solidFill>
            <a:srgbClr val="102018"/>
          </a:solidFill>
          <a:ln w="12700">
            <a:solidFill>
              <a:srgbClr val="10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309067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UIViewController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viewDidLoad()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button.addTarget(...)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tableView.reloadData()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452628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Production lâu đời, control sâu, nhiều code legacy.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0" y="1417320"/>
            <a:ext cx="5230368" cy="4343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7BC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417320"/>
            <a:ext cx="5230368" cy="10972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464040" y="1783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Declarative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75120" y="224028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 đổi -&gt; View tự render lại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720840" y="2852928"/>
            <a:ext cx="4572000" cy="1325880"/>
          </a:xfrm>
          <a:prstGeom prst="rect">
            <a:avLst/>
          </a:prstGeom>
          <a:solidFill>
            <a:srgbClr val="102018"/>
          </a:solidFill>
          <a:ln w="12700">
            <a:solidFill>
              <a:srgbClr val="10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309067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ContentView: View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@State var items = []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List(items) { ... }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93408" y="452628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Nhanh cho màn hình mới, preview tốt, gọn cho junior.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Chọn UIKit hay SwiftUI trong thực tế 2026?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Quyết định theo codebase, target iOS version và mức custom UI.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7335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Màn mới, target iOS mới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819656"/>
            <a:ext cx="731520" cy="457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21808" y="1737360"/>
            <a:ext cx="164592" cy="2011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0" y="1508760"/>
            <a:ext cx="2971800" cy="694944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70448" y="169164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trước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2560320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72491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Codebase cũ / screen phức tạp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09160" y="2871216"/>
            <a:ext cx="73152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21808" y="2788920"/>
            <a:ext cx="164592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2560320"/>
            <a:ext cx="2971800" cy="6949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70448" y="27432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vẫn sống khỏe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3611880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377647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outsource enterprise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09160" y="3922776"/>
            <a:ext cx="731520" cy="45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21808" y="3840480"/>
            <a:ext cx="164592" cy="20116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3611880"/>
            <a:ext cx="2971800" cy="69494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70448" y="379476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là mặc định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006840" y="1463040"/>
            <a:ext cx="2148840" cy="2834640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440" y="1737360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học cho intern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53728" y="233172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để ship nhanh.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đủ để đọc docs và xử lý edge case.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Xcode, SPM,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&amp; tour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Bộ công cụ tối thiểu: Xcode là trung tâm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74819" y="1572768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39411" y="1719072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39411" y="1984248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+ build + simulator</a:t>
            </a:r>
            <a:endParaRPr lang="en-US" sz="940" dirty="0"/>
          </a:p>
        </p:txBody>
      </p:sp>
      <p:sp>
        <p:nvSpPr>
          <p:cNvPr id="13" name="Shape 10"/>
          <p:cNvSpPr/>
          <p:nvPr/>
        </p:nvSpPr>
        <p:spPr>
          <a:xfrm>
            <a:off x="9760819" y="1572768"/>
            <a:ext cx="1965960" cy="74980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25411" y="1719072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SPM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925411" y="1984248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Quản lý package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7474819" y="2697480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9411" y="2843784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9411" y="3108960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/ CPU / energy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9760819" y="2697480"/>
            <a:ext cx="1965960" cy="74980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925411" y="2843784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925411" y="3108960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Beta trước release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7474819" y="3822192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39411" y="3968496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RevenueCat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9411" y="4233672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IAP/subscription</a:t>
            </a:r>
            <a:endParaRPr lang="en-US" sz="940" dirty="0"/>
          </a:p>
        </p:txBody>
      </p:sp>
      <p:sp>
        <p:nvSpPr>
          <p:cNvPr id="25" name="Shape 22"/>
          <p:cNvSpPr/>
          <p:nvPr/>
        </p:nvSpPr>
        <p:spPr>
          <a:xfrm>
            <a:off x="883920" y="5760720"/>
            <a:ext cx="10424160" cy="566928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39952" y="5971032"/>
            <a:ext cx="9966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iOS không chỉ viết Swift; còn phải build, test, đo performance và phát hành qua App Store ecosystem.</a:t>
            </a:r>
            <a:endParaRPr lang="en-US" sz="1380" dirty="0"/>
          </a:p>
        </p:txBody>
      </p:sp>
      <p:sp>
        <p:nvSpPr>
          <p:cNvPr id="27" name="Text 2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8EB9F93-D579-537F-B161-E9CDC0EF6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39" y="1143270"/>
            <a:ext cx="6654759" cy="389523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Tour code mẫu: đọc project như đọc bản đồ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1527048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4356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entry point, DI, app lifecycle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777240" y="20756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Features/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97480" y="2185416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2093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mỗi màn hình / flow là một module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777240" y="27340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697480" y="2843784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75234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networking, persistence, design system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777240" y="339242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Resources/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697480" y="3502152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34107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asset catalog, localizable strings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777240" y="40507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0520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40690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unit test, UI test, fixtures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543800" y="1325880"/>
            <a:ext cx="3749040" cy="3611880"/>
          </a:xfrm>
          <a:prstGeom prst="rect">
            <a:avLst/>
          </a:prstGeom>
          <a:solidFill>
            <a:srgbClr val="10201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1691640"/>
            <a:ext cx="32461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ChecklistView: View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@State var items: [Item]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body: some View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List(items) { item in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Row(item)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.task { await viewModel.load()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7818120" y="44348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Điểm nhấn demo: View -&gt; ViewModel -&gt; Service -&gt; State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2 — PRODUCT / INDIE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Làm sản phẩm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của chính bạn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 vs Outsource — khác biệt cốt lõi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giờ công cho khách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tuyến tính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Chắc chắn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engineering chuẩn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Career path rõ ràng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sản phẩm cho user cuối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có thể scale phi tuyến (1 người làm, triệu user mua)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Rủi ro cao, upside lớn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toàn diện: design · marketing · ops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loại trừ outsource — nhiều người làm cả hai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Vòng đời một product iOS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Idea → Validate (hỏi user thật, không hỏi bạn bè)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MVP — build trong 2–6 tuần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beta qua TestFlight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trên App Store — metadata, screenshot, video preview, ASO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Growth — track D1/D7/D30 retention, ARPU, free→paid conversion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Iterate — ra version mới mỗi 2–4 tuần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Monetization — kiếm tiền từ app như thế nào?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Paid up-front — trả 1 lần khi tải (Things 3, Procreate)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Freemium + IAP — mở khoá tính năng cao cấp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Subscription — mô hình lớn nhất 2020s (Duolingo, Notion, Calm)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Quảng cáo — AdMob, AppLovin — phù hợp game casual (Flappy Bird)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— free + ads + IAP remove ads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cắt 30% (15% với Small Business Program &lt;1M USD/năm)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CASE STUDY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&amp; Nguyễn Hà Đông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pic>
        <p:nvPicPr>
          <p:cNvPr id="1026" name="Picture 2" descr="Flappy Bird Physics Is Real Life? | Action-Reaction">
            <a:extLst>
              <a:ext uri="{FF2B5EF4-FFF2-40B4-BE49-F238E27FC236}">
                <a16:creationId xmlns:a16="http://schemas.microsoft.com/office/drawing/2014/main" id="{4F0D8207-4479-0407-3810-E8DE5BF38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6303" y="1708470"/>
            <a:ext cx="4850897" cy="2811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 — những con số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Tác giả: Nguyễn Hà Đông (Đông Nguyễn) — Hà Nội, sinh 1985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Studio: dotGEARS — gần như một mình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hành: tháng 5/2013 — ban đầu không nổi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Viral: cuối 2013–đầu 2014 nhờ độ khó 'gây nghiện gây bực'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Đỉnh điểm: #1 App Store ở 100+ quốc gia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Doanh thu công khai ước tính ~50.000 USD/ngày từ quảng cáo banner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Gỡ khỏi App Store ngày 10/02/2014 — quyết định gây sốc toàn cầu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“Tôi không thể chịu được nữa.”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Nguyễn Hà Đông, giải thích lý do gỡ Flappy Bird (2014)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Vì sao Flappy Bird đáng nhắc với SV Việt Nam 2026?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người, một app đơn giản, đứng #1 App Store thế giới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 niềm tin 'muốn nổi phải ở Silicon Valley' — App Store là sân chơi phẳng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Ý tưởng &gt; Công nghệ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 dùng kỹ thuật cơ bản: gameplay 1 tap, art retro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Yếu tố 'gây nghiện' &amp; viral organic &gt; số lượng tính năng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học cá nhân: thành công vượt kỳ vọng có cái giá của nó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Indie iOS tại Việt Nam &amp; Đà Nẵng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Cộng đồng indie/solo nhỏ nhưng tích cực — studio 1–5 người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Doanh thu phổ biến: vài nghìn đến vài chục nghìn USD/tháng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Lĩnh vực: game hyper-casual · utility · sticker/launcher · AI wrapper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Đà Nẵng có lợi thế: chi phí sống thấp · cộng đồng dev đông · internet tốt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Hạn chế: cần Wise/Payoneer để nhận tiền · cần làm quen W-8BEN · marketing là 70% công việc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Roadmap thực tế cho sinh viên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2 — bây giờ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Swift + SwiftUI cho thạo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Clone 2–3 app nhỏ (Weather, Notes, Pomodoro)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Bắt đầu đọc Apple Documentation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 → Tốt nghiệp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3: ship app đầu tay lên App Store (free OK)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3–4: thử monetize 1 app utility (RevenueCat + ASO)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Tốt nghiệp: chọn 1 trong 3 — outsource lấy kinh nghiệm · product company · full-time indie nếu app đã ≥ chi phí sống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 đặc thù cho indie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RevenueCat — gắn IAP/Subscription, dashboard analytics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Superwall — A/B test paywall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Store Connect Analytics — funnel, retention, country breakdown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Search Ads — kênh paid acquisition chính trong App Store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 Tower / data.ai — benchmark đối thủ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Twitter/X — kênh marketing số 1 của indie iOS toàn cầu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“Cứ ship sớm, ship nhỏ, rồi học từ phản hồi của user thật.”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Lời nhắn cuối — Nguyễn Quế Lân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điểm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cần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nhớ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Học iOS không phải để biết Swift — là để build sản phẩm cho user thật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Ý tưởng &gt; Công nghệ. Flappy Bird là minh chứng.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Outsource &amp; Product không loại trừ — chọn con đường phù hợp từng giai đoạn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Q&amp;A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Nếu được phát hành 1 app miễn phí ngay tuần sau, bạn muốn làm app gì?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nghĩ mình hợp với product hay outsource hơn? Vì sao?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muốn hỏi gì về App Store, monetization, marketing?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Đặt </a:t>
            </a:r>
            <a:r>
              <a:rPr lang="en-US" sz="2200" b="1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câu</a:t>
            </a: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2200" b="1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hỏi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</a:t>
            </a:r>
            <a:r>
              <a:rPr lang="en-US" sz="7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720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ơn</a:t>
            </a:r>
            <a:r>
              <a:rPr lang="en-US" sz="7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!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Hẹn gặp lại trên App Store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Technical Leader · VNGalaxy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2182</Words>
  <Application>Microsoft Macintosh PowerPoint</Application>
  <PresentationFormat>Widescreen</PresentationFormat>
  <Paragraphs>356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Courier New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 iOS — VKU — Ca 2 — Product / Indie</dc:title>
  <dc:subject>PptxGenJS Presentation</dc:subject>
  <dc:creator>Nguyễn Quế Lân</dc:creator>
  <cp:lastModifiedBy>Quế Lân Nguyễn</cp:lastModifiedBy>
  <cp:revision>10</cp:revision>
  <dcterms:created xsi:type="dcterms:W3CDTF">2026-05-15T22:58:27Z</dcterms:created>
  <dcterms:modified xsi:type="dcterms:W3CDTF">2026-05-15T23:35:32Z</dcterms:modified>
</cp:coreProperties>
</file>