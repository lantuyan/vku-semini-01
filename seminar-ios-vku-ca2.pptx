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90" r:id="rId31"/>
    <p:sldId id="285" r:id="rId32"/>
    <p:sldId id="289" r:id="rId33"/>
    <p:sldId id="287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48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5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22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73814-034A-7DE0-DCD1-67FA4522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64B37-8850-394D-1787-3A0A4D598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395A3-7FE0-A78C-70C8-6AED350CF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4C96B-BB43-6FE8-AC82-BCA182029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34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/Users/quelannguyen/workspace/vku-seminar/new/assets/devices-des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5240" y="502920"/>
            <a:ext cx="379476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4983480"/>
            <a:ext cx="3794760" cy="411480"/>
          </a:xfrm>
          <a:prstGeom prst="rect">
            <a:avLst/>
          </a:prstGeom>
          <a:solidFill>
            <a:srgbClr val="1B3A1F">
              <a:alpha val="88000"/>
            </a:srgbClr>
          </a:solidFill>
          <a:ln w="12700">
            <a:solidFill>
              <a:srgbClr val="1B3A1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99832" y="5084064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Ảnh minh họa: Héctor Martínez / Wikimedia Commons CC0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635240" y="502920"/>
            <a:ext cx="3794760" cy="4892040"/>
          </a:xfrm>
          <a:prstGeom prst="rect">
            <a:avLst/>
          </a:prstGeom>
          <a:solidFill>
            <a:srgbClr val="1B3A1F">
              <a:alpha val="45000"/>
            </a:srgbClr>
          </a:solidFill>
          <a:ln w="1016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051560"/>
            <a:ext cx="6720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Phát triển iOS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6720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Góc nhìn PRODUCT &amp; INDIE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731520" y="3730752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Kỹ thuật · công cụ · câu chuyện Flappy Bird &amp; con đường indie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7909560" y="47548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82712" y="4855464"/>
            <a:ext cx="7223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887968" y="47548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0" y="4855464"/>
            <a:ext cx="7223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921240" y="47548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94392" y="4855464"/>
            <a:ext cx="7223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— Technical Leader, VNGalaxy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Sinh viên năm 2 — VKU · Sáng thứ Bảy · 2 ca × 90 phút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talent: iOS ít người học hơn mức nhu cầu tuyển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Nếu Android cần 10 người...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...nhưng sinh viên học iOS lại rất ít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Nhu cầu tuyển dụng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Android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3500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154680" y="2441448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441448"/>
            <a:ext cx="19202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40487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22,6%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136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30632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3154680" y="3154680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154680"/>
            <a:ext cx="1344168" cy="21945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11810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16,4%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7307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Quy đổi từ mục tiêu tuyển dụng 2024: Android 22,6%, iOS 16,4%. Nếu Android = 10 thì iOS ≈ 7.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874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sinh viên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2423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Android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23500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8823960" y="2441448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2441448"/>
            <a:ext cx="19202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136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0" y="30632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8823960" y="3154680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3154680"/>
            <a:ext cx="192024" cy="21945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7307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Minh họa từ quan sát lớp học/khảo sát nhanh: nhiều bạn chọn Android trước; iOS bị rào cản MacBook, iPhone, App Store.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548640" y="4754880"/>
            <a:ext cx="11018520" cy="1097280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011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Thông điệp chính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5193792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Cơ hội cho product/indie: chọn iOS giúp bạn nổi bật nhanh hơn, vì nguồn người học mỏng hơn nhiều so với Android.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594360" y="60807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Nguồn tuyển dụng: TopDev Vietnam IT &amp; Tech Talent Landscape 2024-2025, tr.34. Tỷ lệ sinh viên là minh họa/proxy, nên xác nhận bằng khảo sát nhanh tại lớp.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Về diễn giả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Leader — VNGalaxy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Chuyên môn: iOS, kiến trúc mobile, lead team kỹ thuật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Vai trò hôm nay: kể câu chuyện product từ góc nhìn người đã build sản phẩm </a:t>
            </a:r>
            <a:r>
              <a:rPr lang="en-US" sz="2200" dirty="0" err="1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thực</a:t>
            </a: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200" dirty="0" err="1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tế</a:t>
            </a:r>
            <a:endParaRPr lang="en-US" sz="2200" dirty="0">
              <a:solidFill>
                <a:srgbClr val="1A1A1A"/>
              </a:solidFill>
              <a:latin typeface="Helvetica" pitchFamily="34" charset="0"/>
              <a:ea typeface="Helvetica" pitchFamily="34" charset="-122"/>
              <a:cs typeface="Helvetica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Góc</a:t>
            </a: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nhìn</a:t>
            </a: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PRODUCT &amp; INDIE, bạn sẽ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Hiểu vòng đời một product iOS từ idea đến App Store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Biết các mô hình monetization phổ biến năm 2026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Hiểu vì sao Flappy Bird đáng được nhắc tới mỗi năm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 một roadmap thực tế để đi đường indie từ sinh viên năm 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Phân biệt được khi nào nên outsource, khi nào nên làm product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Timeline ca 2 — 09:35 đến 11:00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Thời gian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Phút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Nội dung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09:35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Mở đầu ca 2 — đổi tone sang 'làm sản phẩm của mình'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09:40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Tổng quan iOS (đi nhanh, ví dụ khác ca 1)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09:55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Obj-C → Swift từ góc nhìn người làm product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10:10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UIKit vs SwiftUI — chọn cái nào cho indie?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10:25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Công cụ + tour code mẫu (nhấn StoreKit, ASO)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10:30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PRODUCT/INDIE — case Flappy Bird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10:55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Q&amp;A &amp; lời nhắn cuối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684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PHẦN 1 — KỸ THUẬT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Lập trình iOS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hôm nay trông như thế nào?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Hệ sinh thái Apple Platforms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Một ngôn ngữ và một toolchain đi qua nhiều thiết bị.</a:t>
            </a:r>
            <a:endParaRPr lang="en-US" sz="1350" dirty="0"/>
          </a:p>
        </p:txBody>
      </p:sp>
      <p:pic>
        <p:nvPicPr>
          <p:cNvPr id="7" name="Image 0" descr="/Users/quelannguyen/workspace/vku-seminar/new/assets/devices-des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1234440"/>
            <a:ext cx="361188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5074920"/>
            <a:ext cx="3611880" cy="411480"/>
          </a:xfrm>
          <a:prstGeom prst="rect">
            <a:avLst/>
          </a:prstGeom>
          <a:solidFill>
            <a:srgbClr val="1B3A1F">
              <a:alpha val="88000"/>
            </a:srgbClr>
          </a:solidFill>
          <a:ln w="12700">
            <a:solidFill>
              <a:srgbClr val="1B3A1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82712" y="5175504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Ảnh minh họa: Héctor Martínez / Wikimedia Commons CC0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1691640"/>
            <a:ext cx="6492240" cy="109728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399032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9224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84832" y="1399032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65376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iPadOS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865376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iPad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56432" y="1399032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56432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36976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watchOS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236976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1399032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53712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macOS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553712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25312" y="1399032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25312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05856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visionOS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705856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Spatial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1520" y="3154680"/>
            <a:ext cx="6675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0120" y="3337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Ý cần giải thích cho sinh viên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60120" y="363931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iOS không chỉ là học một chiếc điện thoại.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 nắm Swift + Xcode + SDK, bạn có thể chuyển sang iPad, Mac, Watch hoặc visionOS dễ hơn nhiều so với học lại từ đầu.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Với indie, đây là lợi thế khi mở rộng sản phẩm ra nhiều thiết bị.</a:t>
            </a:r>
            <a:endParaRPr lang="en-US" sz="1360" dirty="0"/>
          </a:p>
        </p:txBody>
      </p:sp>
      <p:sp>
        <p:nvSpPr>
          <p:cNvPr id="34" name="Text 31"/>
          <p:cNvSpPr/>
          <p:nvPr/>
        </p:nvSpPr>
        <p:spPr>
          <a:xfrm>
            <a:off x="594360" y="619963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Nguồn ảnh: Wikimedia Commons; nội dung kỹ thuật: Apple Developer platform documentation.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Cấu trúc một app iOS hiện đại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Đọc project theo luồng: UI -&gt; State/Logic -&gt; Data -&gt;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6400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 / UIKit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15544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Màn hình, component, navigation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1832" y="2377440"/>
            <a:ext cx="6144768" cy="65836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560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93392" y="251460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ViewModel / Use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9352" y="2514600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State, validation, async/await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06424" y="3337560"/>
            <a:ext cx="58887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35204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57984" y="347472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REST/GraphQL + local 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23944" y="3474720"/>
            <a:ext cx="2642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Codable, cache, Core Data/SwiftData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271016" y="4297680"/>
            <a:ext cx="5632704" cy="65836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9616" y="448056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22576" y="443484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Apple SDK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88536" y="443484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Push, Maps, Health, AV, StoreKit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18120" y="1325880"/>
            <a:ext cx="3611880" cy="4160520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162763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Ví dụ project outsource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38160" y="21488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2249424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55480" y="21488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8632" y="2249424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Paywall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2807208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2907792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feature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555480" y="2807208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28632" y="2907792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Settings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346557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3566160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55480" y="346557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8632" y="3566160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Support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19872" y="4617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Câu hỏi hay để hỏi lớp: nếu bug ở màn hình login, em sẽ bắt đầu đọc từ layer nào?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LỊCH SỬ NGÔN NGỮ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Từ Objective-C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đến Swift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Objective-C -&gt; Swift: đừng học như hai thế giới tách rời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 là chính, Objective-C giúp đọc legacy và hiểu nền tảng Apple lâu đời.</a:t>
            </a:r>
            <a:endParaRPr lang="en-US" sz="1350" dirty="0"/>
          </a:p>
        </p:txBody>
      </p:sp>
      <p:pic>
        <p:nvPicPr>
          <p:cNvPr id="7" name="Image 0" descr="/Users/quelannguyen/workspace/vku-seminar/new/assets/swif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24128"/>
            <a:ext cx="2148840" cy="6675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2971800"/>
            <a:ext cx="9875520" cy="64008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2807208"/>
            <a:ext cx="384048" cy="38404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1984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Objective-C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 + Smalltalk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 syntax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72968" y="2807208"/>
            <a:ext cx="384048" cy="38404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2432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6032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 SDK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UI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41848" y="28072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496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2014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9320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type-safe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modern syntax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280720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2019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6208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declarative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state-driven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579608" y="28072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3272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03096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 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96696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 concurrency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safer async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" y="4754880"/>
            <a:ext cx="10561320" cy="749808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5010912"/>
            <a:ext cx="10012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Thông điệp indie: chọn Swift/SwiftUI để ship nhanh, biết Obj-C như kiến thức nền.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4360" y="619963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Logo Swift: Apple Inc via Wikimedia Commons, Apache 2.0. Mốc thời gian: Apple Developer / Swift project history.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vs SwiftUI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hai paradigm, một hệ sinh thái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vs SwiftUI: khác nhau ở cách nghĩ, không chỉ cú pháp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Dùng ví dụ state để giải thích vì sao SwiftUI dễ bắt đầu hơn nhưng UIKit vẫn mạnh.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230368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230368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49040" y="1783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Imperative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Controller nói UI phải làm gì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2852928"/>
            <a:ext cx="4572000" cy="1325880"/>
          </a:xfrm>
          <a:prstGeom prst="rect">
            <a:avLst/>
          </a:prstGeom>
          <a:solidFill>
            <a:srgbClr val="102018"/>
          </a:solidFill>
          <a:ln w="12700">
            <a:solidFill>
              <a:srgbClr val="102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09067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UIViewController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viewDidLoad()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button.addTarget(...)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tableView.reloadData()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45262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lâu đời, control sâu, nhiều code legacy.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5230368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417320"/>
            <a:ext cx="5230368" cy="1097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64040" y="1783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Declarative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đổi -&gt; View tự render lại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20840" y="2852928"/>
            <a:ext cx="4572000" cy="1325880"/>
          </a:xfrm>
          <a:prstGeom prst="rect">
            <a:avLst/>
          </a:prstGeom>
          <a:solidFill>
            <a:srgbClr val="102018"/>
          </a:solidFill>
          <a:ln w="12700">
            <a:solidFill>
              <a:srgbClr val="1020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09067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ContentView: 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var items =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List(items) { ... 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93408" y="45262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Nhanh cho màn hình mới, preview tốt, gọn cho junior.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Chọn UIKit hay SwiftUI trong thực tế 2026?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Quyết định theo codebase, target iOS version và mức custom UI.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7335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Màn mới, target iOS mới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819656"/>
            <a:ext cx="73152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21808" y="1737360"/>
            <a:ext cx="164592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508760"/>
            <a:ext cx="2971800" cy="69494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 trước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2560320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2491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Codebase cũ / screen phức tạp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2871216"/>
            <a:ext cx="73152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1808" y="2788920"/>
            <a:ext cx="164592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560320"/>
            <a:ext cx="2971800" cy="6949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743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vẫn sống khỏe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611880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77647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outsource enterprise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3922776"/>
            <a:ext cx="731520" cy="45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1808" y="3840480"/>
            <a:ext cx="164592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611880"/>
            <a:ext cx="2971800" cy="6949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3794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Hybrid là mặc định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006840" y="1463040"/>
            <a:ext cx="2148840" cy="2834640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173736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Bài học cho intern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3728" y="23317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 để ship nhanh.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đủ để đọc docs và xử lý edge case.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CÔNG CỤ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Xcode, SPM,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Instruments &amp; tour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Bộ công cụ tối thiểu: Xcode là trung tâm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74819" y="1572768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9411" y="171907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39411" y="1984248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+ build + simulator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9760819" y="1572768"/>
            <a:ext cx="1965960" cy="74980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25411" y="171907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SPM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925411" y="1984248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Quản lý package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7474819" y="269748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9411" y="28437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Instruments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39411" y="3108960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/ CPU / energy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9760819" y="2697480"/>
            <a:ext cx="1965960" cy="74980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25411" y="28437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TestFlight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925411" y="3108960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Beta trước release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474819" y="3822192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9411" y="39684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RevenueCat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639411" y="4233672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IAP/subscription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883920" y="5760720"/>
            <a:ext cx="10424160" cy="566928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9952" y="5971032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 iOS không chỉ viết Swift; còn phải build, test, đo performance và phát hành qua App Store ecosystem.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8EB9F93-D579-537F-B161-E9CDC0EF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39" y="1143270"/>
            <a:ext cx="6654759" cy="38952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Tour code mẫu: đọc project như đọc bản đồ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1527048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356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 point, DI, app lifecycle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Features/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2185416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93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mỗi màn hình / flow là một module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77240" y="2734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843784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752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networking, persistence, design system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77240" y="3392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97480" y="3502152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4107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asset catalog, localizable strings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97480" y="4160520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0690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test, UI test, fixtures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543800" y="1325880"/>
            <a:ext cx="3749040" cy="3611880"/>
          </a:xfrm>
          <a:prstGeom prst="rect">
            <a:avLst/>
          </a:prstGeom>
          <a:solidFill>
            <a:srgbClr val="10201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1691640"/>
            <a:ext cx="32461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ChecklistView: View 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@State var items: [Item]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body: some View 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List(items) { item in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Row(item)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.task { await viewModel.load()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818120" y="44348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Điểm nhấn demo: View -&gt; ViewModel -&gt; Service -&gt; State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PHẦN 2 — PRODUCT / INDIE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Làm sản phẩm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của chính bạn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vs Outsource — khác biệt cốt lõi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Bán giờ công cho khách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Thu nhập tuyến tính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Chắc chắn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engineering chuẩn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path rõ ràng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Bán sản phẩm cho user cuối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Thu nhập có thể scale phi tuyến (1 người làm, triệu user mua)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Rủi ro cao, upside lớn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toàn diện: design · marketing · ops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Không loại trừ outsource — nhiều người làm cả hai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Vòng đời một product iOS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Idea → Validate (hỏi user thật, không hỏi bạn bè)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MVP — build trong 2–6 tuần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beta qua TestFlight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trên App Store — metadata, screenshot, video preview, ASO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Growth — track D1/D7/D30 retention, ARPU, free→paid conversion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Iterate — ra version mới mỗi 2–4 tuần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Monetization — kiếm tiền từ app như thế nào?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Paid up-front — trả 1 lần khi tải (Things 3, Procreate)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Freemium + IAP — mở khoá tính năng cao cấp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Subscription — mô hình lớn nhất 2020s (Duolingo, Notion, Calm)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Quảng cáo — AdMob, AppLovin — phù hợp game casual (Flappy Bird)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Hybrid — free + ads + IAP remove ads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Apple cắt 30% (15% với Small Business Program &lt;1M USD/năm)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Flappy Bird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&amp; Nguyễn Hà Đông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  <p:pic>
        <p:nvPicPr>
          <p:cNvPr id="1026" name="Picture 2" descr="Flappy Bird Physics Is Real Life? | Action-Reaction">
            <a:extLst>
              <a:ext uri="{FF2B5EF4-FFF2-40B4-BE49-F238E27FC236}">
                <a16:creationId xmlns:a16="http://schemas.microsoft.com/office/drawing/2014/main" id="{4F0D8207-4479-0407-3810-E8DE5BF38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303" y="1708470"/>
            <a:ext cx="4850897" cy="281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Flappy Bird — những con số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Tác giả: Nguyễn Hà Đông (Đông Nguyễn) — Hà Nội, sinh 1985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Studio: dotGEARS — gần như một mình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Phát hành: tháng 5/2013 — ban đầu không nổi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Viral: cuối 2013–đầu 2014 nhờ độ khó 'gây nghiện gây bực'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Đỉnh điểm: #1 App Store ở 100+ quốc gia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Doanh thu công khai ước tính ~50.000 USD/ngày từ quảng cáo banner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Gỡ khỏi App Store ngày 10/02/2014 — quyết định gây sốc toàn cầu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“Tôi không thể chịu được nữa.”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Nguyễn Hà Đông, giải thích lý do gỡ Flappy Bird (2014)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Vì sao Flappy Bird đáng nhắc với SV Việt Nam 2026?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Một người, một app đơn giản, đứng #1 App Store thế giới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Phá niềm tin 'muốn nổi phải ở Silicon Valley' — App Store là sân chơi phẳng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Ý tưởng &gt; Công nghệ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Flappy Bird dùng kỹ thuật cơ bản: gameplay 1 tap, art retro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Yếu tố 'gây nghiện' &amp; viral organic &gt; số lượng tính năng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Bài học cá nhân: thành công vượt kỳ vọng có cái giá của nó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Indie iOS tại Việt Nam &amp; Đà Nẵng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Cộng đồng indie/solo nhỏ nhưng tích cực — studio 1–5 người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Doanh thu phổ biến: vài nghìn đến vài chục nghìn USD/tháng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Lĩnh vực: game hyper-casual · utility · sticker/launcher · AI wrapper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Đà Nẵng có lợi thế: chi phí sống thấp · cộng đồng dev đông · internet tốt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Hạn chế: cần Wise/Payoneer để nhận tiền · cần làm quen W-8BEN · marketing là 70% công việc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 thực tế cho sinh viên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Năm 2 — bây giờ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Swift + SwiftUI cho thạo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Clone 2–3 app nhỏ (Weather, Notes, Pomodoro)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Bắt đầu đọc Apple Documentation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Năm 3 → Tốt nghiệp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Năm 3: ship app đầu tay lên App Store (free OK)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Năm 3–4: thử monetize 1 app utility (RevenueCat + ASO)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Tốt nghiệp: chọn 1 trong 3 — outsource lấy kinh nghiệm · product company · full-time indie nếu app đã ≥ chi phí sống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Công cụ đặc thù cho indie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RevenueCat — gắn IAP/Subscription, dashboard analytics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Superwall — A/B test paywall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Store Connect Analytics — funnel, retention, country breakdown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Apple Search Ads — kênh paid acquisition chính trong App Store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Sensor Tower / data.ai — benchmark đối thủ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Twitter/X — kênh marketing số 1 của indie iOS toàn cầu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“Cứ ship sớm, ship nhỏ, rồi học từ phản hồi của user thật.”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Lời nhắn cuối — Nguyễn Quế Lân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điểm </a:t>
            </a: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cần</a:t>
            </a: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Học iOS không phải để biết Swift — là để build sản phẩm cho user thật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Ý tưởng &gt; Công nghệ. Flappy Bird là minh chứng.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Outsource &amp; Product không loại trừ — chọn con đường phù hợp từng giai đoạn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655A-D65C-8C89-56A1-4BED6748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2B0744-5869-D2CA-3098-EB43958F29F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086803-D107-F690-9BA1-74C1A09A7C0C}"/>
              </a:ext>
            </a:extLst>
          </p:cNvPr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EA4D4A-383D-AFFC-A9AE-4786984FC038}"/>
              </a:ext>
            </a:extLst>
          </p:cNvPr>
          <p:cNvSpPr/>
          <p:nvPr/>
        </p:nvSpPr>
        <p:spPr>
          <a:xfrm>
            <a:off x="444125" y="2731770"/>
            <a:ext cx="11430000" cy="139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Q&amp;A</a:t>
            </a:r>
            <a:endParaRPr lang="en-US" sz="8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601580C-2414-F160-42D1-BCE517180CD0}"/>
              </a:ext>
            </a:extLst>
          </p:cNvPr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C38C0A-778E-0001-2E16-E48721154B76}"/>
              </a:ext>
            </a:extLst>
          </p:cNvPr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CE652-1D6E-30CC-4DC1-A3A675A26FF3}"/>
              </a:ext>
            </a:extLst>
          </p:cNvPr>
          <p:cNvSpPr txBox="1"/>
          <p:nvPr/>
        </p:nvSpPr>
        <p:spPr>
          <a:xfrm>
            <a:off x="2523460" y="42955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62537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Q&amp;A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Nếu được phát hành 1 app miễn phí ngay tuần sau, bạn muốn làm app gì?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Bạn nghĩ mình hợp với product hay outsource hơn? Vì sao?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Bạn muốn hỏi gì về App Store, monetization, marketing?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Đặt </a:t>
            </a:r>
            <a:r>
              <a:rPr lang="en-US" sz="2200" b="1" dirty="0" err="1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câu</a:t>
            </a: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200" b="1" dirty="0" err="1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hỏi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49240"/>
            <a:ext cx="12192000" cy="1508760"/>
          </a:xfrm>
          <a:prstGeom prst="rect">
            <a:avLst/>
          </a:prstGeom>
          <a:solidFill>
            <a:srgbClr val="1B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12064"/>
            <a:ext cx="1063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Quét mã QR để nhận tài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70432"/>
            <a:ext cx="1036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0">
                <a:solidFill>
                  <a:srgbClr val="F7FBF6"/>
                </a:solidFill>
                <a:latin typeface="Aptos Display"/>
              </a:rPr>
              <a:t>Nhập email để nhận tài liệu về lập trình 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8" y="1792224"/>
            <a:ext cx="38404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qr-ios-materials-for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039112"/>
            <a:ext cx="3346704" cy="3346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806440"/>
            <a:ext cx="8534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F7FBF6"/>
                </a:solidFill>
                <a:latin typeface="Aptos Display"/>
              </a:rPr>
              <a:t>https://forms.gle/QwxUtTsD4bLW7uZZ9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Cảm</a:t>
            </a:r>
            <a:r>
              <a:rPr lang="en-US" sz="7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ơn</a:t>
            </a:r>
            <a:r>
              <a:rPr lang="en-US" sz="7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Hẹn gặp lại trên App Store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Technical Leader · VNGalaxy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2215</Words>
  <Application>Microsoft Macintosh PowerPoint</Application>
  <PresentationFormat>Widescreen</PresentationFormat>
  <Paragraphs>362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 Display</vt:lpstr>
      <vt:lpstr>Arial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iOS — VKU — Ca 2 — Product / Indie</dc:title>
  <dc:subject>PptxGenJS Presentation</dc:subject>
  <dc:creator>Nguyễn Quế Lân</dc:creator>
  <cp:lastModifiedBy>Quế Lân Nguyễn</cp:lastModifiedBy>
  <cp:revision>11</cp:revision>
  <dcterms:created xsi:type="dcterms:W3CDTF">2026-05-15T22:58:27Z</dcterms:created>
  <dcterms:modified xsi:type="dcterms:W3CDTF">2026-05-15T23:51:37Z</dcterms:modified>
</cp:coreProperties>
</file>